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발표의 중심은 새로운 학습법이 아니라 고정 정책 F의 평가 계약입니다. 표적 운동 효과는 환경별 할당량(per-environment quota)을 교정한 독립 실험에서 재현됐습니다. 화면의 세 숫자는 역사적 학습 표적 H 대비 capture 차이이며, 새 시드 7개, 112셀, 229,376개 primary episode에서 나온 값입니다. 원본 n=3 캠페인은 별도 역사적 근거로 보존하고 합산하지 않습니다. 모든 정책 평가는 시뮬레이션이며 실비행 주장은 없습니다. 전체 실험 프로그램은 종료됐고, 이 발표는 새 실험 계획이 아니라 기록을 정리한 것입니다.</a:t>
            </a:r>
          </a:p>
          <a:p/>
          <a:p>
            <a:r>
              <a:t>Sources (repository-relative):</a:t>
            </a:r>
          </a:p>
          <a:p>
            <a:r>
              <a:t>results/target_motion_replication_7seed/analysis.json</a:t>
            </a:r>
          </a:p>
          <a:p>
            <a:r>
              <a:t>results/target_motion_replication_7seed/replication_record.json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MOTAR는 지각 불확실성, 정책 민감도, 안전 필터, 표적 운동 분포, 관측 계약을 연결된 연구 질문으로 다룹니다. 정책 가중치는 평가 동안 고정하고, 한 번에 하나의 계약만 바꿔 capture, crash, timeout의 변화를 봅니다. 네 비교군은 서로 다른 실험 모듈이며 하나의 인과 사슬이 아닙니다. 지각, 안전, 표적 운동은 policy F(ep25000 + riskcap), 관측 계약은 policy R(ref5in D1 ep1900)이라는 별도 체크포인트를 사용하므로 효과 크기를 서로 순위화하지 않습니다.</a:t>
            </a:r>
          </a:p>
          <a:p/>
          <a:p>
            <a:r>
              <a:t>Sources (repository-relative):</a:t>
            </a:r>
          </a:p>
          <a:p>
            <a:r>
              <a:t>ARCHITECTURE.md</a:t>
            </a:r>
          </a:p>
          <a:p>
            <a:r>
              <a:t>docs/EVIDENCE.md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카메라 기반 검출과 짧은 track 이력, 72×4 LiDAR 장애물 관측을 17개 토큰으로 묶어 Transformer PPO 정책에 전달합니다. 정책이 낸 속도 명령은 LiDAR 속도 필터를 거쳐 Lee 속도 제어기로 가며, RL 한 스텝은 0.1 s입니다. 표적의 GT 위치, 방위, 거리, 가시성은 감독, 보상, 종료, critic, 평가에만 허용하며 actor 관측에는 넣지 않습니다. 실제 영상 분석은 오프라인 측정 분기이고 실비행 폐루프 검증은 없습니다.</a:t>
            </a:r>
          </a:p>
          <a:p/>
          <a:p>
            <a:r>
              <a:t>Sources (repository-relative):</a:t>
            </a:r>
          </a:p>
          <a:p>
            <a:r>
              <a:t>ARCHITECTURE.md</a:t>
            </a:r>
          </a:p>
          <a:p>
            <a:r>
              <a:t>docs/assets/paper/final/fig1-motar-overview.svg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표의 순서는 인과 강도의 순위가 아닙니다. 각 행은 서로 다른 실험 모듈이고 추론 단위가 다릅니다. E3S 거리 proxy는 한 비행의 아홉 블록이고, P9 비용은 두 평가 시드에서 모은 episode-level 구간입니다. P10 재적응은 세 학습 시드, 안전 필터 비교는 세 평가 시드가 공유되는 15셀입니다. 표적 운동은 일곱 평가 시드가 추론 단위이며, episode 수를 독립 표본 수로 읽지 않습니다. D8b는 다른 정책 R을 사용하므로 손실 크기를 F의 효과와 직접 순위화할 수 없습니다.</a:t>
            </a:r>
          </a:p>
          <a:p/>
          <a:p>
            <a:r>
              <a:t>Sources (repository-relative):</a:t>
            </a:r>
          </a:p>
          <a:p>
            <a:r>
              <a:t>docs/assets/paper/final/manifest.json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ETH ds5의 6.2%는 한 비행 3,107프레임을 아홉 블록으로 집계한 거리 proxy입니다. 오른쪽 NPS P8은 1,310개의 exactly-one-GT 검증 프레임 27구간에서 픽셀 및 시간 오차를 측정합니다. P9는 HIT/FALSE_LOCK/NO_LOCK 전이, 중심점 오프셋, decode+inference 지연을 주입하며 analytic surface range/confidence를 유지합니다. ETH 거리 오차는 주입하지 않습니다. P9의 −4.57 구간은 두 평가 시드에서 episode-level이고, P10 +0.73 구간은 세 학습 시드 기반입니다. 양의 평균만으로 재학습 이득을 확정하지 않습니다.</a:t>
            </a:r>
          </a:p>
          <a:p/>
          <a:p>
            <a:r>
              <a:t>Sources (repository-relative):</a:t>
            </a:r>
          </a:p>
          <a:p>
            <a:r>
              <a:t>results/eth_ds5_e3s_2026-09-10/run/e3s_result.json</a:t>
            </a:r>
          </a:p>
          <a:p>
            <a:r>
              <a:t>results/perception_p10_seed_replication_2026-09-10/summary.json</a:t>
            </a:r>
          </a:p>
          <a:p>
            <a:r>
              <a:t>docs/plans/perception_p9_p10_execution_2026-09-09.md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헤드라인 −1.4903 pp는 arc-clearance−riskcap의 구성된 필터 비교입니다. 기하만의 인과 효과가 아닙니다. 점 15개는 세 평가 시드 × 다섯 밀도이므로 독립 반복 15회로 부르면 안 됩니다. 등록된 cell-pooled CI는 [−1.8981,−1.0826], seed-level t CI는 [−2.42,−0.57] pp입니다. arc−stopcap은 정지 법칙을 고정한 별도 비교입니다. 속도 필터는 안전 증명이나 DWA planner가 아니며 capture와 timeout의 교환관계도 봐야 합니다.</a:t>
            </a:r>
          </a:p>
          <a:p/>
          <a:p>
            <a:r>
              <a:t>Sources (repository-relative):</a:t>
            </a:r>
          </a:p>
          <a:p>
            <a:r>
              <a:t>results/independent_verification_2026-09-07/recomputed.json</a:t>
            </a:r>
          </a:p>
          <a:p>
            <a:r>
              <a:t>results/independent_verification_2026-09-07/PAPER_METHOD_EXPERIMENT.md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중심 결과입니다. 새 시드 4104–4110, 네 arm과 네 밀도의 112셀에서 환경별 처음 완료된 16개 에피소드 ×128환경을 선택해 셀당 2,048개, 총 229,376개가 primary입니다. 각 점은 시드별 네 밀도 평균 대비이고 굵은 구간은 BCa95입니다. H 87.76%, E0 82.39%, E1 84.32%, E2 89.12%. exact p=0.015625, Holm p=0.046875로 일곱 시드 부호반전 검정의 해상도 경계입니다. highly significant라고 하지 않습니다. E2는 160 bars 5/7, 205 bars 4/7만 양의 방향이며 밀도별 분석은 exploratory입니다. 원본 n=3과 합치지 않습니다.</a:t>
            </a:r>
          </a:p>
          <a:p/>
          <a:p>
            <a:r>
              <a:t>Sources (repository-relative):</a:t>
            </a:r>
          </a:p>
          <a:p>
            <a:r>
              <a:t>results/target_motion_replication_7seed/analysis.json</a:t>
            </a:r>
          </a:p>
          <a:p>
            <a:r>
              <a:t>results/target_motion_replication_7seed/replication_record.json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D8b는 같은 R 정책과 검출기, task와 paired seeds에서 관측 treatment를 바꿉니다. mesh-shaded−analytic은 −48.967 pp, 95% seed-t CI [−50.113,−47.821]입니다. 특정 shading, geometry, detector 또는 policy 결함을 독립 원인으로 입증하지 않았습니다. 다른 정책 F의 효과와 크기를 단순 순위화하지 않습니다. 관측 계약 audit을 재학습보다 먼저 검토할 근거이며 PPO가 필요하다는 결론이 아닙니다. D8c는 읽기 전용 감사이고 새 실험은 없습니다.</a:t>
            </a:r>
          </a:p>
          <a:p/>
          <a:p>
            <a:r>
              <a:t>Sources (repository-relative):</a:t>
            </a:r>
          </a:p>
          <a:p>
            <a:r>
              <a:t>results/dynamic_mesh_policy_sensitivity_d8b_2026-09-13/summary.json</a:t>
            </a:r>
          </a:p>
          <a:p>
            <a:r>
              <a:t>docs/d8c_perception_path_audit_2026-09-24.md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NavRL/NavRL++은 navigation과 sim-to-real, Fast/Elastic/YOPOv2-Tracker는 추적 planning 또는 perception-to-action, OPEN은 multi-UAV pursuit-evasion의 맥락입니다. 각 논문의 정보 입력, 플랫폼, target assumptions, denominator가 다릅니다. 외부 성능 수치를 빼거나 우월성을 주장하지 않습니다. Elastic Tracker B0는 환경 문제로 reproduction 실패이며 benchmark가 아닙니다. 자세한 primary references는 논문 R1–R6 및 evidence ledger에 있습니다.</a:t>
            </a:r>
          </a:p>
          <a:p/>
          <a:p>
            <a:r>
              <a:t>Sources (repository-relative):</a:t>
            </a:r>
          </a:p>
          <a:p>
            <a:r>
              <a:t>docs/quantitative_positioning_registry.json</a:t>
            </a:r>
          </a:p>
          <a:p>
            <a:r>
              <a:t>paper/MOTAR_draft_2026-09-26.md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 only이며 실비행과 외부 Class A benchmark는 없습니다. E2의 방향은 고밀도에서 일정하지 않고 n=7 검정은 해상도 경계입니다. D8b 원인은 미검증이고 P10은 inconclusive입니다. 최소거리는 step-end sampling과 swept capture의 의미 불일치로 WITHHELD_SEMANTIC_MISMATCH 상태입니다. raw는 normal Git 밖에 보관하며 공개 archive download는 없습니다. manifest와 hash가 보존되어도 raw 공개와 같은 뜻이 아닙니다.</a:t>
            </a:r>
          </a:p>
          <a:p/>
          <a:p>
            <a:r>
              <a:t>Sources (repository-relative):</a:t>
            </a:r>
          </a:p>
          <a:p>
            <a:r>
              <a:t>results/target_motion_replication_7seed/analysis.json</a:t>
            </a:r>
          </a:p>
          <a:p>
            <a:r>
              <a:t>results/target_motion_replication_7seed/replication_record.json</a:t>
            </a:r>
          </a:p>
          <a:p>
            <a:r>
              <a:t>results/perception_p10_seed_replication_2026-09-10/summary.json</a:t>
            </a:r>
          </a:p>
          <a:p>
            <a:r>
              <a:t>docs/plans/perception_p9_p10_execution_2026-09-09.md</a:t>
            </a:r>
          </a:p>
          <a:p>
            <a:r>
              <a:t>results/dynamic_mesh_policy_sensitivity_d8b_2026-09-13/summary.json</a:t>
            </a:r>
          </a:p>
          <a:p>
            <a:r>
              <a:t>docs/d8c_perception_path_audit_2026-09-24.md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9월18일 n=3, stopping-window bias 감사와 canary, 9월25–26일 독립 n=7을 구분합니다. Canary는 instrumentation validation으로 과학적 replication이 아닙니다. 같은 n=7에서 quota와 legacy estimator를 비교할 수 있으나 시드가 다른 campaign 전체 차이를 estimator만으로 설명할 수는 없습니다. 최신 문서와 그림, PPT, 공개 CPU 검증은 편집 패키지입니다.</a:t>
            </a:r>
          </a:p>
          <a:p/>
          <a:p>
            <a:r>
              <a:t>Sources (repository-relative):</a:t>
            </a:r>
          </a:p>
          <a:p>
            <a:r>
              <a:t>results/target_motion_replication_7seed/analysis.json</a:t>
            </a:r>
          </a:p>
          <a:p>
            <a:r>
              <a:t>results/target_motion_replication_7seed/replication_record.json</a:t>
            </a:r>
          </a:p>
          <a:p>
            <a:r>
              <a:t>paper/PAPER_TODO_2026-09-26.md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단계는 citation metadata, 저자와 소속, venue template, figure print export, tables와 data availability statement의 검토입니다. 새 PPO, extra seeds, D8c experiment, Elastic Tracker run은 시작하지 않습니다. 전체 diff와 검증 결과를 제시하고 커밋 전 검토를 기다립니다. 이 단계의 GitHub 새 파일 링크는 승인된 publish 이후 사용 가능합니다.</a:t>
            </a:r>
          </a:p>
          <a:p/>
          <a:p>
            <a:r>
              <a:t>Sources (repository-relative):</a:t>
            </a:r>
          </a:p>
          <a:p>
            <a:r>
              <a:t>paper/PAPER_TODO_2026-09-26.md</a:t>
            </a:r>
          </a:p>
          <a:p>
            <a:r>
              <a:t>AGENTS.md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MOTAR / MOVING OBJECT TRACKING AND RENDEZVOUS</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표적 운동의 효과를 독립 n=7 실험으로 재현했다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Frozen policy F  ·  7 fresh seeds  ·  Simulation-only evidence</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01 / 12</a:t>
            </a:r>
          </a:p>
        </p:txBody>
      </p:sp>
      <p:sp>
        <p:nvSpPr>
          <p:cNvPr id="8" name="TextBox 7"/>
          <p:cNvSpPr txBox="1"/>
          <p:nvPr/>
        </p:nvSpPr>
        <p:spPr>
          <a:xfrm>
            <a:off x="621792" y="1874519"/>
            <a:ext cx="10789920" cy="777240"/>
          </a:xfrm>
          <a:prstGeom prst="rect">
            <a:avLst/>
          </a:prstGeom>
          <a:noFill/>
        </p:spPr>
        <p:txBody>
          <a:bodyPr wrap="square" lIns="0" rIns="0" tIns="0" bIns="0" anchor="t">
            <a:spAutoFit/>
          </a:bodyPr>
          <a:lstStyle/>
          <a:p>
            <a:pPr>
              <a:spcAft>
                <a:spcPts val="500"/>
              </a:spcAft>
            </a:pPr>
            <a:r>
              <a:rPr sz="2300" b="0">
                <a:solidFill>
                  <a:srgbClr val="626A73"/>
                </a:solidFill>
                <a:latin typeface="Noto Sans CJK KR"/>
                <a:ea typeface="Noto Sans CJK KR"/>
              </a:rPr>
              <a:t>Independent replication of target-motion effects</a:t>
            </a:r>
          </a:p>
          <a:p>
            <a:pPr>
              <a:spcAft>
                <a:spcPts val="500"/>
              </a:spcAft>
            </a:pPr>
            <a:r>
              <a:rPr sz="2300" b="0">
                <a:solidFill>
                  <a:srgbClr val="626A73"/>
                </a:solidFill>
                <a:latin typeface="Noto Sans CJK KR"/>
                <a:ea typeface="Noto Sans CJK KR"/>
              </a:rPr>
              <a:t>in UAV close-approach simulation</a:t>
            </a:r>
          </a:p>
        </p:txBody>
      </p:sp>
      <p:sp>
        <p:nvSpPr>
          <p:cNvPr id="9" name="TextBox 8"/>
          <p:cNvSpPr txBox="1"/>
          <p:nvPr/>
        </p:nvSpPr>
        <p:spPr>
          <a:xfrm>
            <a:off x="658368" y="3246120"/>
            <a:ext cx="32918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Static − historical</a:t>
            </a:r>
          </a:p>
        </p:txBody>
      </p:sp>
      <p:sp>
        <p:nvSpPr>
          <p:cNvPr id="10" name="TextBox 9"/>
          <p:cNvSpPr txBox="1"/>
          <p:nvPr/>
        </p:nvSpPr>
        <p:spPr>
          <a:xfrm>
            <a:off x="658368" y="3703320"/>
            <a:ext cx="3200400" cy="777240"/>
          </a:xfrm>
          <a:prstGeom prst="rect">
            <a:avLst/>
          </a:prstGeom>
          <a:noFill/>
        </p:spPr>
        <p:txBody>
          <a:bodyPr wrap="square" lIns="0" rIns="0" tIns="0" bIns="0" anchor="t">
            <a:spAutoFit/>
          </a:bodyPr>
          <a:lstStyle/>
          <a:p>
            <a:pPr>
              <a:spcAft>
                <a:spcPts val="500"/>
              </a:spcAft>
            </a:pPr>
            <a:r>
              <a:rPr sz="4100" b="1">
                <a:solidFill>
                  <a:srgbClr val="2F6599"/>
                </a:solidFill>
                <a:latin typeface="Noto Sans CJK KR"/>
                <a:ea typeface="Noto Sans CJK KR"/>
              </a:rPr>
              <a:t>−5.37 pp</a:t>
            </a:r>
          </a:p>
        </p:txBody>
      </p:sp>
      <p:sp>
        <p:nvSpPr>
          <p:cNvPr id="11" name="TextBox 10"/>
          <p:cNvSpPr txBox="1"/>
          <p:nvPr/>
        </p:nvSpPr>
        <p:spPr>
          <a:xfrm>
            <a:off x="4361688" y="3246120"/>
            <a:ext cx="32918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Constant velocity − historical</a:t>
            </a:r>
          </a:p>
        </p:txBody>
      </p:sp>
      <p:sp>
        <p:nvSpPr>
          <p:cNvPr id="12" name="TextBox 11"/>
          <p:cNvSpPr txBox="1"/>
          <p:nvPr/>
        </p:nvSpPr>
        <p:spPr>
          <a:xfrm>
            <a:off x="4361688" y="3703320"/>
            <a:ext cx="3200400" cy="777240"/>
          </a:xfrm>
          <a:prstGeom prst="rect">
            <a:avLst/>
          </a:prstGeom>
          <a:noFill/>
        </p:spPr>
        <p:txBody>
          <a:bodyPr wrap="square" lIns="0" rIns="0" tIns="0" bIns="0" anchor="t">
            <a:spAutoFit/>
          </a:bodyPr>
          <a:lstStyle/>
          <a:p>
            <a:pPr>
              <a:spcAft>
                <a:spcPts val="500"/>
              </a:spcAft>
            </a:pPr>
            <a:r>
              <a:rPr sz="4100" b="1">
                <a:solidFill>
                  <a:srgbClr val="2F6599"/>
                </a:solidFill>
                <a:latin typeface="Noto Sans CJK KR"/>
                <a:ea typeface="Noto Sans CJK KR"/>
              </a:rPr>
              <a:t>−3.45 pp</a:t>
            </a:r>
          </a:p>
        </p:txBody>
      </p:sp>
      <p:sp>
        <p:nvSpPr>
          <p:cNvPr id="13" name="TextBox 12"/>
          <p:cNvSpPr txBox="1"/>
          <p:nvPr/>
        </p:nvSpPr>
        <p:spPr>
          <a:xfrm>
            <a:off x="8065008" y="3246120"/>
            <a:ext cx="32918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Obstacle-aware − historical</a:t>
            </a:r>
          </a:p>
        </p:txBody>
      </p:sp>
      <p:sp>
        <p:nvSpPr>
          <p:cNvPr id="14" name="TextBox 13"/>
          <p:cNvSpPr txBox="1"/>
          <p:nvPr/>
        </p:nvSpPr>
        <p:spPr>
          <a:xfrm>
            <a:off x="8065008" y="3703320"/>
            <a:ext cx="3200400" cy="777240"/>
          </a:xfrm>
          <a:prstGeom prst="rect">
            <a:avLst/>
          </a:prstGeom>
          <a:noFill/>
        </p:spPr>
        <p:txBody>
          <a:bodyPr wrap="square" lIns="0" rIns="0" tIns="0" bIns="0" anchor="t">
            <a:spAutoFit/>
          </a:bodyPr>
          <a:lstStyle/>
          <a:p>
            <a:pPr>
              <a:spcAft>
                <a:spcPts val="500"/>
              </a:spcAft>
            </a:pPr>
            <a:r>
              <a:rPr sz="4100" b="1">
                <a:solidFill>
                  <a:srgbClr val="2F6599"/>
                </a:solidFill>
                <a:latin typeface="Noto Sans CJK KR"/>
                <a:ea typeface="Noto Sans CJK KR"/>
              </a:rPr>
              <a:t>+1.35 pp</a:t>
            </a:r>
          </a:p>
        </p:txBody>
      </p:sp>
      <p:sp>
        <p:nvSpPr>
          <p:cNvPr id="15" name="TextBox 14"/>
          <p:cNvSpPr txBox="1"/>
          <p:nvPr/>
        </p:nvSpPr>
        <p:spPr>
          <a:xfrm>
            <a:off x="658368" y="5193792"/>
            <a:ext cx="10607040" cy="457200"/>
          </a:xfrm>
          <a:prstGeom prst="rect">
            <a:avLst/>
          </a:prstGeom>
          <a:noFill/>
        </p:spPr>
        <p:txBody>
          <a:bodyPr wrap="square" lIns="0" rIns="0" tIns="0" bIns="0" anchor="t">
            <a:spAutoFit/>
          </a:bodyPr>
          <a:lstStyle/>
          <a:p>
            <a:pPr>
              <a:spcAft>
                <a:spcPts val="500"/>
              </a:spcAft>
            </a:pPr>
            <a:r>
              <a:rPr sz="1500" b="0">
                <a:solidFill>
                  <a:srgbClr val="1F1F1F"/>
                </a:solidFill>
                <a:latin typeface="Noto Sans CJK KR"/>
                <a:ea typeface="Noto Sans CJK KR"/>
              </a:rPr>
              <a:t>이민석 · 오현동  |  Minseok Lee · Hyondong Oh</a:t>
            </a:r>
          </a:p>
          <a:p>
            <a:pPr>
              <a:spcAft>
                <a:spcPts val="500"/>
              </a:spcAft>
            </a:pPr>
            <a:r>
              <a:rPr sz="1500" b="0">
                <a:solidFill>
                  <a:srgbClr val="1F1F1F"/>
                </a:solidFill>
                <a:latin typeface="Noto Sans CJK KR"/>
                <a:ea typeface="Noto Sans CJK KR"/>
              </a:rPr>
              <a:t>KAIST · Department of Mechanical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01 / RESEARCH QUESTION</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정책을 고정하면, 어떤 가정의 변화가 성능을 바꾸는가?</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Research question  ·  Contract sensitivity, not a causal ranking</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02 / 12</a:t>
            </a:r>
          </a:p>
        </p:txBody>
      </p:sp>
      <p:sp>
        <p:nvSpPr>
          <p:cNvPr id="8" name="Rectangle 7"/>
          <p:cNvSpPr/>
          <p:nvPr/>
        </p:nvSpPr>
        <p:spPr>
          <a:xfrm>
            <a:off x="4343400" y="2852928"/>
            <a:ext cx="3383280" cy="123444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090672"/>
            <a:ext cx="2926080" cy="685800"/>
          </a:xfrm>
          <a:prstGeom prst="rect">
            <a:avLst/>
          </a:prstGeom>
          <a:noFill/>
        </p:spPr>
        <p:txBody>
          <a:bodyPr wrap="square" lIns="0" rIns="0" tIns="0" bIns="0" anchor="t">
            <a:spAutoFit/>
          </a:bodyPr>
          <a:lstStyle/>
          <a:p>
            <a:pPr algn="ctr">
              <a:spcAft>
                <a:spcPts val="500"/>
              </a:spcAft>
            </a:pPr>
            <a:r>
              <a:rPr sz="2300" b="1">
                <a:solidFill>
                  <a:srgbClr val="2F6599"/>
                </a:solidFill>
                <a:latin typeface="Noto Sans CJK KR"/>
                <a:ea typeface="Noto Sans CJK KR"/>
              </a:rPr>
              <a:t>FROZEN POLICY</a:t>
            </a:r>
          </a:p>
          <a:p>
            <a:pPr algn="ctr">
              <a:spcAft>
                <a:spcPts val="500"/>
              </a:spcAft>
            </a:pPr>
            <a:r>
              <a:rPr sz="2300" b="1">
                <a:solidFill>
                  <a:srgbClr val="2F6599"/>
                </a:solidFill>
                <a:latin typeface="Noto Sans CJK KR"/>
                <a:ea typeface="Noto Sans CJK KR"/>
              </a:rPr>
              <a:t>measured response</a:t>
            </a:r>
          </a:p>
        </p:txBody>
      </p:sp>
      <p:sp>
        <p:nvSpPr>
          <p:cNvPr id="10" name="TextBox 9"/>
          <p:cNvSpPr txBox="1"/>
          <p:nvPr/>
        </p:nvSpPr>
        <p:spPr>
          <a:xfrm>
            <a:off x="914400" y="2176272"/>
            <a:ext cx="2971800" cy="731520"/>
          </a:xfrm>
          <a:prstGeom prst="rect">
            <a:avLst/>
          </a:prstGeom>
          <a:noFill/>
        </p:spPr>
        <p:txBody>
          <a:bodyPr wrap="square" lIns="0" rIns="0" tIns="0" bIns="0" anchor="t">
            <a:spAutoFit/>
          </a:bodyPr>
          <a:lstStyle/>
          <a:p>
            <a:pPr>
              <a:spcAft>
                <a:spcPts val="500"/>
              </a:spcAft>
            </a:pPr>
            <a:r>
              <a:rPr sz="2100" b="0">
                <a:solidFill>
                  <a:srgbClr val="1F1F1F"/>
                </a:solidFill>
                <a:latin typeface="Noto Sans CJK KR"/>
                <a:ea typeface="Noto Sans CJK KR"/>
              </a:rPr>
              <a:t>Perception error</a:t>
            </a:r>
          </a:p>
        </p:txBody>
      </p:sp>
      <p:cxnSp>
        <p:nvCxnSpPr>
          <p:cNvPr id="11" name="Connector 10"/>
          <p:cNvCxnSpPr/>
          <p:nvPr/>
        </p:nvCxnSpPr>
        <p:spPr>
          <a:xfrm>
            <a:off x="2331720" y="2587752"/>
            <a:ext cx="2011680" cy="521208"/>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0" y="2176272"/>
            <a:ext cx="2971800" cy="731520"/>
          </a:xfrm>
          <a:prstGeom prst="rect">
            <a:avLst/>
          </a:prstGeom>
          <a:noFill/>
        </p:spPr>
        <p:txBody>
          <a:bodyPr wrap="square" lIns="0" rIns="0" tIns="0" bIns="0" anchor="t">
            <a:spAutoFit/>
          </a:bodyPr>
          <a:lstStyle/>
          <a:p>
            <a:pPr>
              <a:spcAft>
                <a:spcPts val="500"/>
              </a:spcAft>
            </a:pPr>
            <a:r>
              <a:rPr sz="2100" b="0">
                <a:solidFill>
                  <a:srgbClr val="1F1F1F"/>
                </a:solidFill>
                <a:latin typeface="Noto Sans CJK KR"/>
                <a:ea typeface="Noto Sans CJK KR"/>
              </a:rPr>
              <a:t>Safety filter</a:t>
            </a:r>
          </a:p>
        </p:txBody>
      </p:sp>
      <p:cxnSp>
        <p:nvCxnSpPr>
          <p:cNvPr id="13" name="Connector 12"/>
          <p:cNvCxnSpPr/>
          <p:nvPr/>
        </p:nvCxnSpPr>
        <p:spPr>
          <a:xfrm flipH="1">
            <a:off x="7726679" y="2587752"/>
            <a:ext cx="1920241" cy="521208"/>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4343400"/>
            <a:ext cx="2971800" cy="731520"/>
          </a:xfrm>
          <a:prstGeom prst="rect">
            <a:avLst/>
          </a:prstGeom>
          <a:noFill/>
        </p:spPr>
        <p:txBody>
          <a:bodyPr wrap="square" lIns="0" rIns="0" tIns="0" bIns="0" anchor="t">
            <a:spAutoFit/>
          </a:bodyPr>
          <a:lstStyle/>
          <a:p>
            <a:pPr>
              <a:spcAft>
                <a:spcPts val="500"/>
              </a:spcAft>
            </a:pPr>
            <a:r>
              <a:rPr sz="2100" b="0">
                <a:solidFill>
                  <a:srgbClr val="1F1F1F"/>
                </a:solidFill>
                <a:latin typeface="Noto Sans CJK KR"/>
                <a:ea typeface="Noto Sans CJK KR"/>
              </a:rPr>
              <a:t>Target motion</a:t>
            </a:r>
          </a:p>
        </p:txBody>
      </p:sp>
      <p:cxnSp>
        <p:nvCxnSpPr>
          <p:cNvPr id="15" name="Connector 14"/>
          <p:cNvCxnSpPr/>
          <p:nvPr/>
        </p:nvCxnSpPr>
        <p:spPr>
          <a:xfrm flipV="1">
            <a:off x="2331720" y="3749039"/>
            <a:ext cx="2011680" cy="1005841"/>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0" y="4343400"/>
            <a:ext cx="2971800" cy="731520"/>
          </a:xfrm>
          <a:prstGeom prst="rect">
            <a:avLst/>
          </a:prstGeom>
          <a:noFill/>
        </p:spPr>
        <p:txBody>
          <a:bodyPr wrap="square" lIns="0" rIns="0" tIns="0" bIns="0" anchor="t">
            <a:spAutoFit/>
          </a:bodyPr>
          <a:lstStyle/>
          <a:p>
            <a:pPr>
              <a:spcAft>
                <a:spcPts val="500"/>
              </a:spcAft>
            </a:pPr>
            <a:r>
              <a:rPr sz="2100" b="0">
                <a:solidFill>
                  <a:srgbClr val="1F1F1F"/>
                </a:solidFill>
                <a:latin typeface="Noto Sans CJK KR"/>
                <a:ea typeface="Noto Sans CJK KR"/>
              </a:rPr>
              <a:t>Observation contract</a:t>
            </a:r>
          </a:p>
        </p:txBody>
      </p:sp>
      <p:cxnSp>
        <p:nvCxnSpPr>
          <p:cNvPr id="17" name="Connector 16"/>
          <p:cNvCxnSpPr/>
          <p:nvPr/>
        </p:nvCxnSpPr>
        <p:spPr>
          <a:xfrm flipH="1" flipV="1">
            <a:off x="7726679" y="3749039"/>
            <a:ext cx="1920241" cy="1005841"/>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02 / SYSTEM OVERVIEW</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센서 관측에서 제어까지의 경계를 명시한다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Actor observation  ·  Ground-truth target state is excluded</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03 / 12</a:t>
            </a:r>
          </a:p>
        </p:txBody>
      </p:sp>
      <p:sp>
        <p:nvSpPr>
          <p:cNvPr id="8" name="Rectangle 7"/>
          <p:cNvSpPr/>
          <p:nvPr/>
        </p:nvSpPr>
        <p:spPr>
          <a:xfrm>
            <a:off x="640080" y="2788920"/>
            <a:ext cx="1993392" cy="141732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035808"/>
            <a:ext cx="1719072" cy="365760"/>
          </a:xfrm>
          <a:prstGeom prst="rect">
            <a:avLst/>
          </a:prstGeom>
          <a:noFill/>
        </p:spPr>
        <p:txBody>
          <a:bodyPr wrap="square" lIns="0" rIns="0" tIns="0" bIns="0" anchor="t">
            <a:spAutoFit/>
          </a:bodyPr>
          <a:lstStyle/>
          <a:p>
            <a:pPr algn="ctr">
              <a:spcAft>
                <a:spcPts val="500"/>
              </a:spcAft>
            </a:pPr>
            <a:r>
              <a:rPr sz="2200" b="1">
                <a:solidFill>
                  <a:srgbClr val="2F6599"/>
                </a:solidFill>
                <a:latin typeface="Noto Sans CJK KR"/>
                <a:ea typeface="Noto Sans CJK KR"/>
              </a:rPr>
              <a:t>Sensors</a:t>
            </a:r>
          </a:p>
        </p:txBody>
      </p:sp>
      <p:sp>
        <p:nvSpPr>
          <p:cNvPr id="10" name="TextBox 9"/>
          <p:cNvSpPr txBox="1"/>
          <p:nvPr/>
        </p:nvSpPr>
        <p:spPr>
          <a:xfrm>
            <a:off x="731519" y="3648456"/>
            <a:ext cx="1810512" cy="36576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Camera + LiDAR</a:t>
            </a:r>
          </a:p>
        </p:txBody>
      </p:sp>
      <p:sp>
        <p:nvSpPr>
          <p:cNvPr id="11" name="TextBox 10"/>
          <p:cNvSpPr txBox="1"/>
          <p:nvPr/>
        </p:nvSpPr>
        <p:spPr>
          <a:xfrm>
            <a:off x="2651760" y="3218688"/>
            <a:ext cx="274320" cy="365760"/>
          </a:xfrm>
          <a:prstGeom prst="rect">
            <a:avLst/>
          </a:prstGeom>
          <a:noFill/>
        </p:spPr>
        <p:txBody>
          <a:bodyPr wrap="square" lIns="0" rIns="0" tIns="0" bIns="0" anchor="t">
            <a:spAutoFit/>
          </a:bodyPr>
          <a:lstStyle/>
          <a:p>
            <a:pPr>
              <a:spcAft>
                <a:spcPts val="500"/>
              </a:spcAft>
            </a:pPr>
            <a:r>
              <a:rPr sz="2000" b="0">
                <a:solidFill>
                  <a:srgbClr val="2F6599"/>
                </a:solidFill>
                <a:latin typeface="Noto Sans CJK KR"/>
                <a:ea typeface="Noto Sans CJK KR"/>
              </a:rPr>
              <a:t>→</a:t>
            </a:r>
          </a:p>
        </p:txBody>
      </p:sp>
      <p:sp>
        <p:nvSpPr>
          <p:cNvPr id="12" name="Rectangle 11"/>
          <p:cNvSpPr/>
          <p:nvPr/>
        </p:nvSpPr>
        <p:spPr>
          <a:xfrm>
            <a:off x="2935224" y="2788920"/>
            <a:ext cx="1993392" cy="141732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72384" y="3035808"/>
            <a:ext cx="1719072" cy="365760"/>
          </a:xfrm>
          <a:prstGeom prst="rect">
            <a:avLst/>
          </a:prstGeom>
          <a:noFill/>
        </p:spPr>
        <p:txBody>
          <a:bodyPr wrap="square" lIns="0" rIns="0" tIns="0" bIns="0" anchor="t">
            <a:spAutoFit/>
          </a:bodyPr>
          <a:lstStyle/>
          <a:p>
            <a:pPr algn="ctr">
              <a:spcAft>
                <a:spcPts val="500"/>
              </a:spcAft>
            </a:pPr>
            <a:r>
              <a:rPr sz="2200" b="1">
                <a:solidFill>
                  <a:srgbClr val="2F6599"/>
                </a:solidFill>
                <a:latin typeface="Noto Sans CJK KR"/>
                <a:ea typeface="Noto Sans CJK KR"/>
              </a:rPr>
              <a:t>Perception</a:t>
            </a:r>
          </a:p>
        </p:txBody>
      </p:sp>
      <p:sp>
        <p:nvSpPr>
          <p:cNvPr id="14" name="TextBox 13"/>
          <p:cNvSpPr txBox="1"/>
          <p:nvPr/>
        </p:nvSpPr>
        <p:spPr>
          <a:xfrm>
            <a:off x="3026664" y="3648456"/>
            <a:ext cx="1810512" cy="36576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Detection + history</a:t>
            </a:r>
          </a:p>
        </p:txBody>
      </p:sp>
      <p:sp>
        <p:nvSpPr>
          <p:cNvPr id="15" name="TextBox 14"/>
          <p:cNvSpPr txBox="1"/>
          <p:nvPr/>
        </p:nvSpPr>
        <p:spPr>
          <a:xfrm>
            <a:off x="4946904" y="3218688"/>
            <a:ext cx="274320" cy="365760"/>
          </a:xfrm>
          <a:prstGeom prst="rect">
            <a:avLst/>
          </a:prstGeom>
          <a:noFill/>
        </p:spPr>
        <p:txBody>
          <a:bodyPr wrap="square" lIns="0" rIns="0" tIns="0" bIns="0" anchor="t">
            <a:spAutoFit/>
          </a:bodyPr>
          <a:lstStyle/>
          <a:p>
            <a:pPr>
              <a:spcAft>
                <a:spcPts val="500"/>
              </a:spcAft>
            </a:pPr>
            <a:r>
              <a:rPr sz="2000" b="0">
                <a:solidFill>
                  <a:srgbClr val="2F6599"/>
                </a:solidFill>
                <a:latin typeface="Noto Sans CJK KR"/>
                <a:ea typeface="Noto Sans CJK KR"/>
              </a:rPr>
              <a:t>→</a:t>
            </a:r>
          </a:p>
        </p:txBody>
      </p:sp>
      <p:sp>
        <p:nvSpPr>
          <p:cNvPr id="16" name="Rectangle 15"/>
          <p:cNvSpPr/>
          <p:nvPr/>
        </p:nvSpPr>
        <p:spPr>
          <a:xfrm>
            <a:off x="5230368" y="2788920"/>
            <a:ext cx="1993392" cy="141732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67528" y="3035808"/>
            <a:ext cx="1719072" cy="365760"/>
          </a:xfrm>
          <a:prstGeom prst="rect">
            <a:avLst/>
          </a:prstGeom>
          <a:noFill/>
        </p:spPr>
        <p:txBody>
          <a:bodyPr wrap="square" lIns="0" rIns="0" tIns="0" bIns="0" anchor="t">
            <a:spAutoFit/>
          </a:bodyPr>
          <a:lstStyle/>
          <a:p>
            <a:pPr algn="ctr">
              <a:spcAft>
                <a:spcPts val="500"/>
              </a:spcAft>
            </a:pPr>
            <a:r>
              <a:rPr sz="2200" b="1">
                <a:solidFill>
                  <a:srgbClr val="2F6599"/>
                </a:solidFill>
                <a:latin typeface="Noto Sans CJK KR"/>
                <a:ea typeface="Noto Sans CJK KR"/>
              </a:rPr>
              <a:t>Policy</a:t>
            </a:r>
          </a:p>
        </p:txBody>
      </p:sp>
      <p:sp>
        <p:nvSpPr>
          <p:cNvPr id="18" name="TextBox 17"/>
          <p:cNvSpPr txBox="1"/>
          <p:nvPr/>
        </p:nvSpPr>
        <p:spPr>
          <a:xfrm>
            <a:off x="5321807" y="3648456"/>
            <a:ext cx="1810512" cy="36576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Transformer PPO</a:t>
            </a:r>
          </a:p>
        </p:txBody>
      </p:sp>
      <p:sp>
        <p:nvSpPr>
          <p:cNvPr id="19" name="TextBox 18"/>
          <p:cNvSpPr txBox="1"/>
          <p:nvPr/>
        </p:nvSpPr>
        <p:spPr>
          <a:xfrm>
            <a:off x="7242048" y="3218688"/>
            <a:ext cx="274320" cy="365760"/>
          </a:xfrm>
          <a:prstGeom prst="rect">
            <a:avLst/>
          </a:prstGeom>
          <a:noFill/>
        </p:spPr>
        <p:txBody>
          <a:bodyPr wrap="square" lIns="0" rIns="0" tIns="0" bIns="0" anchor="t">
            <a:spAutoFit/>
          </a:bodyPr>
          <a:lstStyle/>
          <a:p>
            <a:pPr>
              <a:spcAft>
                <a:spcPts val="500"/>
              </a:spcAft>
            </a:pPr>
            <a:r>
              <a:rPr sz="2000" b="0">
                <a:solidFill>
                  <a:srgbClr val="2F6599"/>
                </a:solidFill>
                <a:latin typeface="Noto Sans CJK KR"/>
                <a:ea typeface="Noto Sans CJK KR"/>
              </a:rPr>
              <a:t>→</a:t>
            </a:r>
          </a:p>
        </p:txBody>
      </p:sp>
      <p:sp>
        <p:nvSpPr>
          <p:cNvPr id="20" name="Rectangle 19"/>
          <p:cNvSpPr/>
          <p:nvPr/>
        </p:nvSpPr>
        <p:spPr>
          <a:xfrm>
            <a:off x="7525511" y="2788920"/>
            <a:ext cx="1993392" cy="141732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671" y="3035808"/>
            <a:ext cx="1719072" cy="365760"/>
          </a:xfrm>
          <a:prstGeom prst="rect">
            <a:avLst/>
          </a:prstGeom>
          <a:noFill/>
        </p:spPr>
        <p:txBody>
          <a:bodyPr wrap="square" lIns="0" rIns="0" tIns="0" bIns="0" anchor="t">
            <a:spAutoFit/>
          </a:bodyPr>
          <a:lstStyle/>
          <a:p>
            <a:pPr algn="ctr">
              <a:spcAft>
                <a:spcPts val="500"/>
              </a:spcAft>
            </a:pPr>
            <a:r>
              <a:rPr sz="2200" b="1">
                <a:solidFill>
                  <a:srgbClr val="2F6599"/>
                </a:solidFill>
                <a:latin typeface="Noto Sans CJK KR"/>
                <a:ea typeface="Noto Sans CJK KR"/>
              </a:rPr>
              <a:t>Filter</a:t>
            </a:r>
          </a:p>
        </p:txBody>
      </p:sp>
      <p:sp>
        <p:nvSpPr>
          <p:cNvPr id="22" name="TextBox 21"/>
          <p:cNvSpPr txBox="1"/>
          <p:nvPr/>
        </p:nvSpPr>
        <p:spPr>
          <a:xfrm>
            <a:off x="7616951" y="3648456"/>
            <a:ext cx="1810512" cy="36576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LiDAR speed cap</a:t>
            </a:r>
          </a:p>
        </p:txBody>
      </p:sp>
      <p:sp>
        <p:nvSpPr>
          <p:cNvPr id="23" name="TextBox 22"/>
          <p:cNvSpPr txBox="1"/>
          <p:nvPr/>
        </p:nvSpPr>
        <p:spPr>
          <a:xfrm>
            <a:off x="9537192" y="3218688"/>
            <a:ext cx="274320" cy="365760"/>
          </a:xfrm>
          <a:prstGeom prst="rect">
            <a:avLst/>
          </a:prstGeom>
          <a:noFill/>
        </p:spPr>
        <p:txBody>
          <a:bodyPr wrap="square" lIns="0" rIns="0" tIns="0" bIns="0" anchor="t">
            <a:spAutoFit/>
          </a:bodyPr>
          <a:lstStyle/>
          <a:p>
            <a:pPr>
              <a:spcAft>
                <a:spcPts val="500"/>
              </a:spcAft>
            </a:pPr>
            <a:r>
              <a:rPr sz="2000" b="0">
                <a:solidFill>
                  <a:srgbClr val="2F6599"/>
                </a:solidFill>
                <a:latin typeface="Noto Sans CJK KR"/>
                <a:ea typeface="Noto Sans CJK KR"/>
              </a:rPr>
              <a:t>→</a:t>
            </a:r>
          </a:p>
        </p:txBody>
      </p:sp>
      <p:sp>
        <p:nvSpPr>
          <p:cNvPr id="24" name="Rectangle 23"/>
          <p:cNvSpPr/>
          <p:nvPr/>
        </p:nvSpPr>
        <p:spPr>
          <a:xfrm>
            <a:off x="9820655" y="2788920"/>
            <a:ext cx="1993392" cy="141732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57815" y="3035808"/>
            <a:ext cx="1719072" cy="365760"/>
          </a:xfrm>
          <a:prstGeom prst="rect">
            <a:avLst/>
          </a:prstGeom>
          <a:noFill/>
        </p:spPr>
        <p:txBody>
          <a:bodyPr wrap="square" lIns="0" rIns="0" tIns="0" bIns="0" anchor="t">
            <a:spAutoFit/>
          </a:bodyPr>
          <a:lstStyle/>
          <a:p>
            <a:pPr algn="ctr">
              <a:spcAft>
                <a:spcPts val="500"/>
              </a:spcAft>
            </a:pPr>
            <a:r>
              <a:rPr sz="2200" b="1">
                <a:solidFill>
                  <a:srgbClr val="2F6599"/>
                </a:solidFill>
                <a:latin typeface="Noto Sans CJK KR"/>
                <a:ea typeface="Noto Sans CJK KR"/>
              </a:rPr>
              <a:t>Control</a:t>
            </a:r>
          </a:p>
        </p:txBody>
      </p:sp>
      <p:sp>
        <p:nvSpPr>
          <p:cNvPr id="26" name="TextBox 25"/>
          <p:cNvSpPr txBox="1"/>
          <p:nvPr/>
        </p:nvSpPr>
        <p:spPr>
          <a:xfrm>
            <a:off x="9912095" y="3648456"/>
            <a:ext cx="1810512" cy="36576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Lee velocity</a:t>
            </a:r>
          </a:p>
        </p:txBody>
      </p:sp>
      <p:cxnSp>
        <p:nvCxnSpPr>
          <p:cNvPr id="27" name="Connector 26"/>
          <p:cNvCxnSpPr/>
          <p:nvPr/>
        </p:nvCxnSpPr>
        <p:spPr>
          <a:xfrm>
            <a:off x="1645920" y="4389120"/>
            <a:ext cx="923544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52928" y="4773168"/>
            <a:ext cx="6492240" cy="548640"/>
          </a:xfrm>
          <a:prstGeom prst="rect">
            <a:avLst/>
          </a:prstGeom>
          <a:noFill/>
        </p:spPr>
        <p:txBody>
          <a:bodyPr wrap="square" lIns="0" rIns="0" tIns="0" bIns="0" anchor="t">
            <a:spAutoFit/>
          </a:bodyPr>
          <a:lstStyle/>
          <a:p>
            <a:pPr algn="ctr">
              <a:spcAft>
                <a:spcPts val="500"/>
              </a:spcAft>
            </a:pPr>
            <a:r>
              <a:rPr sz="2100" b="0">
                <a:solidFill>
                  <a:srgbClr val="626A73"/>
                </a:solidFill>
                <a:latin typeface="Noto Sans CJK KR"/>
                <a:ea typeface="Noto Sans CJK KR"/>
              </a:rPr>
              <a:t>Simulated obstacle field → next observation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03 / EVIDENCE CHAIN</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각 결과의 정책과 추론 단위를 함께 읽는다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Separate evidence modules  ·  Policy F ≠ policy R</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04 / 12</a:t>
            </a:r>
          </a:p>
        </p:txBody>
      </p:sp>
      <p:sp>
        <p:nvSpPr>
          <p:cNvPr id="8" name="TextBox 7"/>
          <p:cNvSpPr txBox="1"/>
          <p:nvPr/>
        </p:nvSpPr>
        <p:spPr>
          <a:xfrm>
            <a:off x="731520" y="1929384"/>
            <a:ext cx="3429000" cy="36576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Range proxy</a:t>
            </a:r>
          </a:p>
        </p:txBody>
      </p:sp>
      <p:sp>
        <p:nvSpPr>
          <p:cNvPr id="9" name="TextBox 8"/>
          <p:cNvSpPr txBox="1"/>
          <p:nvPr/>
        </p:nvSpPr>
        <p:spPr>
          <a:xfrm>
            <a:off x="4389120" y="1929384"/>
            <a:ext cx="2606040" cy="36576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6.2%</a:t>
            </a:r>
          </a:p>
        </p:txBody>
      </p:sp>
      <p:sp>
        <p:nvSpPr>
          <p:cNvPr id="10" name="TextBox 9"/>
          <p:cNvSpPr txBox="1"/>
          <p:nvPr/>
        </p:nvSpPr>
        <p:spPr>
          <a:xfrm>
            <a:off x="7315200" y="1929384"/>
            <a:ext cx="42062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1 flight / 9 blocks</a:t>
            </a:r>
          </a:p>
        </p:txBody>
      </p:sp>
      <p:cxnSp>
        <p:nvCxnSpPr>
          <p:cNvPr id="11" name="Connector 10"/>
          <p:cNvCxnSpPr/>
          <p:nvPr/>
        </p:nvCxnSpPr>
        <p:spPr>
          <a:xfrm>
            <a:off x="731520" y="2359152"/>
            <a:ext cx="10698480" cy="0"/>
          </a:xfrm>
          <a:prstGeom prst="line">
            <a:avLst/>
          </a:prstGeom>
          <a:ln w="7620">
            <a:solidFill>
              <a:srgbClr val="D7DC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496312"/>
            <a:ext cx="3429000" cy="36576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Pixel / temporal cost</a:t>
            </a:r>
          </a:p>
        </p:txBody>
      </p:sp>
      <p:sp>
        <p:nvSpPr>
          <p:cNvPr id="13" name="TextBox 12"/>
          <p:cNvSpPr txBox="1"/>
          <p:nvPr/>
        </p:nvSpPr>
        <p:spPr>
          <a:xfrm>
            <a:off x="4389120" y="2496312"/>
            <a:ext cx="2606040" cy="36576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−4.57 pp</a:t>
            </a:r>
          </a:p>
        </p:txBody>
      </p:sp>
      <p:sp>
        <p:nvSpPr>
          <p:cNvPr id="14" name="TextBox 13"/>
          <p:cNvSpPr txBox="1"/>
          <p:nvPr/>
        </p:nvSpPr>
        <p:spPr>
          <a:xfrm>
            <a:off x="7315200" y="2496312"/>
            <a:ext cx="42062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F / 2 evaluation seeds*</a:t>
            </a:r>
          </a:p>
        </p:txBody>
      </p:sp>
      <p:cxnSp>
        <p:nvCxnSpPr>
          <p:cNvPr id="15" name="Connector 14"/>
          <p:cNvCxnSpPr/>
          <p:nvPr/>
        </p:nvCxnSpPr>
        <p:spPr>
          <a:xfrm>
            <a:off x="731520" y="2926080"/>
            <a:ext cx="10698480" cy="0"/>
          </a:xfrm>
          <a:prstGeom prst="line">
            <a:avLst/>
          </a:prstGeom>
          <a:ln w="7620">
            <a:solidFill>
              <a:srgbClr val="D7DCE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3063239"/>
            <a:ext cx="3429000" cy="36576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Readaptation</a:t>
            </a:r>
          </a:p>
        </p:txBody>
      </p:sp>
      <p:sp>
        <p:nvSpPr>
          <p:cNvPr id="17" name="TextBox 16"/>
          <p:cNvSpPr txBox="1"/>
          <p:nvPr/>
        </p:nvSpPr>
        <p:spPr>
          <a:xfrm>
            <a:off x="4389120" y="3063239"/>
            <a:ext cx="2606040" cy="36576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+0.73 pp</a:t>
            </a:r>
          </a:p>
        </p:txBody>
      </p:sp>
      <p:sp>
        <p:nvSpPr>
          <p:cNvPr id="18" name="TextBox 17"/>
          <p:cNvSpPr txBox="1"/>
          <p:nvPr/>
        </p:nvSpPr>
        <p:spPr>
          <a:xfrm>
            <a:off x="7315200" y="3063239"/>
            <a:ext cx="42062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3 training seeds / INCONCLUSIVE</a:t>
            </a:r>
          </a:p>
        </p:txBody>
      </p:sp>
      <p:cxnSp>
        <p:nvCxnSpPr>
          <p:cNvPr id="19" name="Connector 18"/>
          <p:cNvCxnSpPr/>
          <p:nvPr/>
        </p:nvCxnSpPr>
        <p:spPr>
          <a:xfrm>
            <a:off x="731520" y="3493007"/>
            <a:ext cx="10698480" cy="0"/>
          </a:xfrm>
          <a:prstGeom prst="line">
            <a:avLst/>
          </a:prstGeom>
          <a:ln w="7620">
            <a:solidFill>
              <a:srgbClr val="D7DCE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3630168"/>
            <a:ext cx="3429000" cy="36576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Configured filter</a:t>
            </a:r>
          </a:p>
        </p:txBody>
      </p:sp>
      <p:sp>
        <p:nvSpPr>
          <p:cNvPr id="21" name="TextBox 20"/>
          <p:cNvSpPr txBox="1"/>
          <p:nvPr/>
        </p:nvSpPr>
        <p:spPr>
          <a:xfrm>
            <a:off x="4389120" y="3630168"/>
            <a:ext cx="2606040" cy="36576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−1.4903 pp crash</a:t>
            </a:r>
          </a:p>
        </p:txBody>
      </p:sp>
      <p:sp>
        <p:nvSpPr>
          <p:cNvPr id="22" name="TextBox 21"/>
          <p:cNvSpPr txBox="1"/>
          <p:nvPr/>
        </p:nvSpPr>
        <p:spPr>
          <a:xfrm>
            <a:off x="7315200" y="3630168"/>
            <a:ext cx="42062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F / 3 evaluation seeds</a:t>
            </a:r>
          </a:p>
        </p:txBody>
      </p:sp>
      <p:cxnSp>
        <p:nvCxnSpPr>
          <p:cNvPr id="23" name="Connector 22"/>
          <p:cNvCxnSpPr/>
          <p:nvPr/>
        </p:nvCxnSpPr>
        <p:spPr>
          <a:xfrm>
            <a:off x="731520" y="4059935"/>
            <a:ext cx="10698480" cy="0"/>
          </a:xfrm>
          <a:prstGeom prst="line">
            <a:avLst/>
          </a:prstGeom>
          <a:ln w="7620">
            <a:solidFill>
              <a:srgbClr val="D7DCE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1520" y="4197096"/>
            <a:ext cx="3429000" cy="36576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Target-motion replication</a:t>
            </a:r>
          </a:p>
        </p:txBody>
      </p:sp>
      <p:sp>
        <p:nvSpPr>
          <p:cNvPr id="25" name="TextBox 24"/>
          <p:cNvSpPr txBox="1"/>
          <p:nvPr/>
        </p:nvSpPr>
        <p:spPr>
          <a:xfrm>
            <a:off x="4389120" y="4197096"/>
            <a:ext cx="2606040" cy="36576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n = 7</a:t>
            </a:r>
          </a:p>
        </p:txBody>
      </p:sp>
      <p:sp>
        <p:nvSpPr>
          <p:cNvPr id="26" name="TextBox 25"/>
          <p:cNvSpPr txBox="1"/>
          <p:nvPr/>
        </p:nvSpPr>
        <p:spPr>
          <a:xfrm>
            <a:off x="7315200" y="4197096"/>
            <a:ext cx="42062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F / paired evaluation seeds</a:t>
            </a:r>
          </a:p>
        </p:txBody>
      </p:sp>
      <p:cxnSp>
        <p:nvCxnSpPr>
          <p:cNvPr id="27" name="Connector 26"/>
          <p:cNvCxnSpPr/>
          <p:nvPr/>
        </p:nvCxnSpPr>
        <p:spPr>
          <a:xfrm>
            <a:off x="731520" y="4626864"/>
            <a:ext cx="10698480" cy="0"/>
          </a:xfrm>
          <a:prstGeom prst="line">
            <a:avLst/>
          </a:prstGeom>
          <a:ln w="7620">
            <a:solidFill>
              <a:srgbClr val="D7DCE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31520" y="4764024"/>
            <a:ext cx="3429000" cy="36576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Observation contract</a:t>
            </a:r>
          </a:p>
        </p:txBody>
      </p:sp>
      <p:sp>
        <p:nvSpPr>
          <p:cNvPr id="29" name="TextBox 28"/>
          <p:cNvSpPr txBox="1"/>
          <p:nvPr/>
        </p:nvSpPr>
        <p:spPr>
          <a:xfrm>
            <a:off x="4389120" y="4764024"/>
            <a:ext cx="2606040" cy="36576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−48.967 pp</a:t>
            </a:r>
          </a:p>
        </p:txBody>
      </p:sp>
      <p:sp>
        <p:nvSpPr>
          <p:cNvPr id="30" name="TextBox 29"/>
          <p:cNvSpPr txBox="1"/>
          <p:nvPr/>
        </p:nvSpPr>
        <p:spPr>
          <a:xfrm>
            <a:off x="7315200" y="4764024"/>
            <a:ext cx="4206240" cy="365760"/>
          </a:xfrm>
          <a:prstGeom prst="rect">
            <a:avLst/>
          </a:prstGeom>
          <a:noFill/>
        </p:spPr>
        <p:txBody>
          <a:bodyPr wrap="square" lIns="0" rIns="0" tIns="0" bIns="0" anchor="t">
            <a:spAutoFit/>
          </a:bodyPr>
          <a:lstStyle/>
          <a:p>
            <a:pPr>
              <a:spcAft>
                <a:spcPts val="500"/>
              </a:spcAft>
            </a:pPr>
            <a:r>
              <a:rPr sz="1600" b="0">
                <a:solidFill>
                  <a:srgbClr val="626A73"/>
                </a:solidFill>
                <a:latin typeface="Noto Sans CJK KR"/>
                <a:ea typeface="Noto Sans CJK KR"/>
              </a:rPr>
              <a:t>R / 3 paired evaluation seeds</a:t>
            </a:r>
          </a:p>
        </p:txBody>
      </p:sp>
      <p:cxnSp>
        <p:nvCxnSpPr>
          <p:cNvPr id="31" name="Connector 30"/>
          <p:cNvCxnSpPr/>
          <p:nvPr/>
        </p:nvCxnSpPr>
        <p:spPr>
          <a:xfrm>
            <a:off x="731520" y="5193792"/>
            <a:ext cx="10698480" cy="0"/>
          </a:xfrm>
          <a:prstGeom prst="line">
            <a:avLst/>
          </a:prstGeom>
          <a:ln w="7620">
            <a:solidFill>
              <a:srgbClr val="D7DCE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31520" y="5522976"/>
            <a:ext cx="10515600" cy="274320"/>
          </a:xfrm>
          <a:prstGeom prst="rect">
            <a:avLst/>
          </a:prstGeom>
          <a:noFill/>
        </p:spPr>
        <p:txBody>
          <a:bodyPr wrap="square" lIns="0" rIns="0" tIns="0" bIns="0" anchor="t">
            <a:spAutoFit/>
          </a:bodyPr>
          <a:lstStyle/>
          <a:p>
            <a:pPr>
              <a:spcAft>
                <a:spcPts val="500"/>
              </a:spcAft>
            </a:pPr>
            <a:r>
              <a:rPr sz="1200" b="0">
                <a:solidFill>
                  <a:srgbClr val="626A73"/>
                </a:solidFill>
                <a:latin typeface="Noto Sans CJK KR"/>
                <a:ea typeface="Noto Sans CJK KR"/>
              </a:rPr>
              <a:t>* P9 interval is episode-level; the repeated frozen arms are a determinism check.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04 / PERCEPTION MEASUREMENT → POLICY SENSITIVITY</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거리 오차 측정과 정책 오차 주입은 별도 분기다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P10 readaptation  ·  INCONCLUSIVE; no net benefit established</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05 / 12</a:t>
            </a:r>
          </a:p>
        </p:txBody>
      </p:sp>
      <p:sp>
        <p:nvSpPr>
          <p:cNvPr id="8" name="TextBox 7"/>
          <p:cNvSpPr txBox="1"/>
          <p:nvPr/>
        </p:nvSpPr>
        <p:spPr>
          <a:xfrm>
            <a:off x="731520" y="2057400"/>
            <a:ext cx="3703320" cy="411480"/>
          </a:xfrm>
          <a:prstGeom prst="rect">
            <a:avLst/>
          </a:prstGeom>
          <a:noFill/>
        </p:spPr>
        <p:txBody>
          <a:bodyPr wrap="square" lIns="0" rIns="0" tIns="0" bIns="0" anchor="t">
            <a:spAutoFit/>
          </a:bodyPr>
          <a:lstStyle/>
          <a:p>
            <a:pPr>
              <a:spcAft>
                <a:spcPts val="500"/>
              </a:spcAft>
            </a:pPr>
            <a:r>
              <a:rPr sz="1700" b="0">
                <a:solidFill>
                  <a:srgbClr val="626A73"/>
                </a:solidFill>
                <a:latin typeface="Noto Sans CJK KR"/>
                <a:ea typeface="Noto Sans CJK KR"/>
              </a:rPr>
              <a:t>ETH ds5 / range-proxy measurement</a:t>
            </a:r>
          </a:p>
        </p:txBody>
      </p:sp>
      <p:sp>
        <p:nvSpPr>
          <p:cNvPr id="9" name="TextBox 8"/>
          <p:cNvSpPr txBox="1"/>
          <p:nvPr/>
        </p:nvSpPr>
        <p:spPr>
          <a:xfrm>
            <a:off x="731520" y="2852928"/>
            <a:ext cx="3657600" cy="777240"/>
          </a:xfrm>
          <a:prstGeom prst="rect">
            <a:avLst/>
          </a:prstGeom>
          <a:noFill/>
        </p:spPr>
        <p:txBody>
          <a:bodyPr wrap="square" lIns="0" rIns="0" tIns="0" bIns="0" anchor="t">
            <a:spAutoFit/>
          </a:bodyPr>
          <a:lstStyle/>
          <a:p>
            <a:pPr>
              <a:spcAft>
                <a:spcPts val="500"/>
              </a:spcAft>
            </a:pPr>
            <a:r>
              <a:rPr sz="4400" b="1">
                <a:solidFill>
                  <a:srgbClr val="2F6599"/>
                </a:solidFill>
                <a:latin typeface="Noto Sans CJK KR"/>
                <a:ea typeface="Noto Sans CJK KR"/>
              </a:rPr>
              <a:t>6.2%</a:t>
            </a:r>
          </a:p>
        </p:txBody>
      </p:sp>
      <p:sp>
        <p:nvSpPr>
          <p:cNvPr id="10" name="TextBox 9"/>
          <p:cNvSpPr txBox="1"/>
          <p:nvPr/>
        </p:nvSpPr>
        <p:spPr>
          <a:xfrm>
            <a:off x="731520" y="3776472"/>
            <a:ext cx="3383280" cy="118872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Median of 9 block medians</a:t>
            </a:r>
          </a:p>
          <a:p>
            <a:pPr>
              <a:spcAft>
                <a:spcPts val="500"/>
              </a:spcAft>
            </a:pPr>
            <a:r>
              <a:rPr sz="1800" b="0">
                <a:solidFill>
                  <a:srgbClr val="1F1F1F"/>
                </a:solidFill>
                <a:latin typeface="Noto Sans CJK KR"/>
                <a:ea typeface="Noto Sans CJK KR"/>
              </a:rPr>
              <a:t>One flight; correlated frames</a:t>
            </a:r>
          </a:p>
          <a:p>
            <a:pPr>
              <a:spcAft>
                <a:spcPts val="500"/>
              </a:spcAft>
            </a:pPr>
            <a:r>
              <a:rPr sz="1800" b="0">
                <a:solidFill>
                  <a:srgbClr val="1F1F1F"/>
                </a:solidFill>
                <a:latin typeface="Noto Sans CJK KR"/>
                <a:ea typeface="Noto Sans CJK KR"/>
              </a:rPr>
              <a:t>Not the P9 injected statistic</a:t>
            </a:r>
          </a:p>
        </p:txBody>
      </p:sp>
      <p:cxnSp>
        <p:nvCxnSpPr>
          <p:cNvPr id="11" name="Connector 10"/>
          <p:cNvCxnSpPr/>
          <p:nvPr/>
        </p:nvCxnSpPr>
        <p:spPr>
          <a:xfrm>
            <a:off x="4572000" y="2057400"/>
            <a:ext cx="0" cy="338328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47488" y="2057400"/>
            <a:ext cx="6446520" cy="457200"/>
          </a:xfrm>
          <a:prstGeom prst="rect">
            <a:avLst/>
          </a:prstGeom>
          <a:noFill/>
        </p:spPr>
        <p:txBody>
          <a:bodyPr wrap="square" lIns="0" rIns="0" tIns="0" bIns="0" anchor="t">
            <a:spAutoFit/>
          </a:bodyPr>
          <a:lstStyle/>
          <a:p>
            <a:pPr>
              <a:spcAft>
                <a:spcPts val="500"/>
              </a:spcAft>
            </a:pPr>
            <a:r>
              <a:rPr sz="1900" b="1">
                <a:solidFill>
                  <a:srgbClr val="2F6599"/>
                </a:solidFill>
                <a:latin typeface="Noto Sans CJK KR"/>
                <a:ea typeface="Noto Sans CJK KR"/>
              </a:rPr>
              <a:t>NPS P8 → pixel / temporal injection → policy F</a:t>
            </a:r>
          </a:p>
        </p:txBody>
      </p:sp>
      <p:sp>
        <p:nvSpPr>
          <p:cNvPr id="13" name="TextBox 12"/>
          <p:cNvSpPr txBox="1"/>
          <p:nvPr/>
        </p:nvSpPr>
        <p:spPr>
          <a:xfrm>
            <a:off x="5047488" y="2971800"/>
            <a:ext cx="3017520" cy="365760"/>
          </a:xfrm>
          <a:prstGeom prst="rect">
            <a:avLst/>
          </a:prstGeom>
          <a:noFill/>
        </p:spPr>
        <p:txBody>
          <a:bodyPr wrap="square" lIns="0" rIns="0" tIns="0" bIns="0" anchor="t">
            <a:spAutoFit/>
          </a:bodyPr>
          <a:lstStyle/>
          <a:p>
            <a:pPr>
              <a:spcAft>
                <a:spcPts val="500"/>
              </a:spcAft>
            </a:pPr>
            <a:r>
              <a:rPr sz="1900" b="0">
                <a:solidFill>
                  <a:srgbClr val="1F1F1F"/>
                </a:solidFill>
                <a:latin typeface="Noto Sans CJK KR"/>
                <a:ea typeface="Noto Sans CJK KR"/>
              </a:rPr>
              <a:t>Frozen-policy cost</a:t>
            </a:r>
          </a:p>
        </p:txBody>
      </p:sp>
      <p:sp>
        <p:nvSpPr>
          <p:cNvPr id="14" name="TextBox 13"/>
          <p:cNvSpPr txBox="1"/>
          <p:nvPr/>
        </p:nvSpPr>
        <p:spPr>
          <a:xfrm>
            <a:off x="8229600" y="2880360"/>
            <a:ext cx="3200400" cy="548640"/>
          </a:xfrm>
          <a:prstGeom prst="rect">
            <a:avLst/>
          </a:prstGeom>
          <a:noFill/>
        </p:spPr>
        <p:txBody>
          <a:bodyPr wrap="square" lIns="0" rIns="0" tIns="0" bIns="0" anchor="t">
            <a:spAutoFit/>
          </a:bodyPr>
          <a:lstStyle/>
          <a:p>
            <a:pPr>
              <a:spcAft>
                <a:spcPts val="500"/>
              </a:spcAft>
            </a:pPr>
            <a:r>
              <a:rPr sz="3000" b="1">
                <a:solidFill>
                  <a:srgbClr val="2F6599"/>
                </a:solidFill>
                <a:latin typeface="Noto Sans CJK KR"/>
                <a:ea typeface="Noto Sans CJK KR"/>
              </a:rPr>
              <a:t>−4.57 pp</a:t>
            </a:r>
          </a:p>
        </p:txBody>
      </p:sp>
      <p:sp>
        <p:nvSpPr>
          <p:cNvPr id="15" name="TextBox 14"/>
          <p:cNvSpPr txBox="1"/>
          <p:nvPr/>
        </p:nvSpPr>
        <p:spPr>
          <a:xfrm>
            <a:off x="5047488" y="3566160"/>
            <a:ext cx="6309360" cy="457200"/>
          </a:xfrm>
          <a:prstGeom prst="rect">
            <a:avLst/>
          </a:prstGeom>
          <a:noFill/>
        </p:spPr>
        <p:txBody>
          <a:bodyPr wrap="square" lIns="0" rIns="0" tIns="0" bIns="0" anchor="t">
            <a:spAutoFit/>
          </a:bodyPr>
          <a:lstStyle/>
          <a:p>
            <a:pPr>
              <a:spcAft>
                <a:spcPts val="500"/>
              </a:spcAft>
            </a:pPr>
            <a:r>
              <a:rPr sz="1500" b="0">
                <a:solidFill>
                  <a:srgbClr val="626A73"/>
                </a:solidFill>
                <a:latin typeface="Noto Sans CJK KR"/>
                <a:ea typeface="Noto Sans CJK KR"/>
              </a:rPr>
              <a:t>[−6.32, −2.82] pp  ·  episode-level 95% CI</a:t>
            </a:r>
          </a:p>
        </p:txBody>
      </p:sp>
      <p:sp>
        <p:nvSpPr>
          <p:cNvPr id="16" name="TextBox 15"/>
          <p:cNvSpPr txBox="1"/>
          <p:nvPr/>
        </p:nvSpPr>
        <p:spPr>
          <a:xfrm>
            <a:off x="5047488" y="4361688"/>
            <a:ext cx="3017520" cy="365760"/>
          </a:xfrm>
          <a:prstGeom prst="rect">
            <a:avLst/>
          </a:prstGeom>
          <a:noFill/>
        </p:spPr>
        <p:txBody>
          <a:bodyPr wrap="square" lIns="0" rIns="0" tIns="0" bIns="0" anchor="t">
            <a:spAutoFit/>
          </a:bodyPr>
          <a:lstStyle/>
          <a:p>
            <a:pPr>
              <a:spcAft>
                <a:spcPts val="500"/>
              </a:spcAft>
            </a:pPr>
            <a:r>
              <a:rPr sz="1900" b="0">
                <a:solidFill>
                  <a:srgbClr val="1F1F1F"/>
                </a:solidFill>
                <a:latin typeface="Noto Sans CJK KR"/>
                <a:ea typeface="Noto Sans CJK KR"/>
              </a:rPr>
              <a:t>Readaptation</a:t>
            </a:r>
          </a:p>
        </p:txBody>
      </p:sp>
      <p:sp>
        <p:nvSpPr>
          <p:cNvPr id="17" name="TextBox 16"/>
          <p:cNvSpPr txBox="1"/>
          <p:nvPr/>
        </p:nvSpPr>
        <p:spPr>
          <a:xfrm>
            <a:off x="8229600" y="4270248"/>
            <a:ext cx="3200400" cy="548640"/>
          </a:xfrm>
          <a:prstGeom prst="rect">
            <a:avLst/>
          </a:prstGeom>
          <a:noFill/>
        </p:spPr>
        <p:txBody>
          <a:bodyPr wrap="square" lIns="0" rIns="0" tIns="0" bIns="0" anchor="t">
            <a:spAutoFit/>
          </a:bodyPr>
          <a:lstStyle/>
          <a:p>
            <a:pPr>
              <a:spcAft>
                <a:spcPts val="500"/>
              </a:spcAft>
            </a:pPr>
            <a:r>
              <a:rPr sz="3000" b="1">
                <a:solidFill>
                  <a:srgbClr val="2F6599"/>
                </a:solidFill>
                <a:latin typeface="Noto Sans CJK KR"/>
                <a:ea typeface="Noto Sans CJK KR"/>
              </a:rPr>
              <a:t>+0.73 pp</a:t>
            </a:r>
          </a:p>
        </p:txBody>
      </p:sp>
      <p:sp>
        <p:nvSpPr>
          <p:cNvPr id="18" name="TextBox 17"/>
          <p:cNvSpPr txBox="1"/>
          <p:nvPr/>
        </p:nvSpPr>
        <p:spPr>
          <a:xfrm>
            <a:off x="5047488" y="4956048"/>
            <a:ext cx="6309360" cy="457200"/>
          </a:xfrm>
          <a:prstGeom prst="rect">
            <a:avLst/>
          </a:prstGeom>
          <a:noFill/>
        </p:spPr>
        <p:txBody>
          <a:bodyPr wrap="square" lIns="0" rIns="0" tIns="0" bIns="0" anchor="t">
            <a:spAutoFit/>
          </a:bodyPr>
          <a:lstStyle/>
          <a:p>
            <a:pPr>
              <a:spcAft>
                <a:spcPts val="500"/>
              </a:spcAft>
            </a:pPr>
            <a:r>
              <a:rPr sz="1500" b="0">
                <a:solidFill>
                  <a:srgbClr val="626A73"/>
                </a:solidFill>
                <a:latin typeface="Noto Sans CJK KR"/>
                <a:ea typeface="Noto Sans CJK KR"/>
              </a:rPr>
              <a:t>[−1.04, +2.50] pp  ·  training-seed 95% 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05 / SAFETY GEOMETRY</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구현된 arc 필터는 riskcap보다 crash를 줄였다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Configured comparison  ·  Geometry and stopping law both change</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06 / 12</a:t>
            </a:r>
          </a:p>
        </p:txBody>
      </p:sp>
      <p:sp>
        <p:nvSpPr>
          <p:cNvPr id="8" name="TextBox 7"/>
          <p:cNvSpPr txBox="1"/>
          <p:nvPr/>
        </p:nvSpPr>
        <p:spPr>
          <a:xfrm>
            <a:off x="713232" y="2103120"/>
            <a:ext cx="5029200" cy="411480"/>
          </a:xfrm>
          <a:prstGeom prst="rect">
            <a:avLst/>
          </a:prstGeom>
          <a:noFill/>
        </p:spPr>
        <p:txBody>
          <a:bodyPr wrap="square" lIns="0" rIns="0" tIns="0" bIns="0" anchor="t">
            <a:spAutoFit/>
          </a:bodyPr>
          <a:lstStyle/>
          <a:p>
            <a:pPr>
              <a:spcAft>
                <a:spcPts val="500"/>
              </a:spcAft>
            </a:pPr>
            <a:r>
              <a:rPr sz="2100" b="0">
                <a:solidFill>
                  <a:srgbClr val="1F1F1F"/>
                </a:solidFill>
                <a:latin typeface="Noto Sans CJK KR"/>
                <a:ea typeface="Noto Sans CJK KR"/>
              </a:rPr>
              <a:t>Arc-clearance − riskcap / crash</a:t>
            </a:r>
          </a:p>
        </p:txBody>
      </p:sp>
      <p:sp>
        <p:nvSpPr>
          <p:cNvPr id="9" name="TextBox 8"/>
          <p:cNvSpPr txBox="1"/>
          <p:nvPr/>
        </p:nvSpPr>
        <p:spPr>
          <a:xfrm>
            <a:off x="713232" y="2770632"/>
            <a:ext cx="5029200" cy="868680"/>
          </a:xfrm>
          <a:prstGeom prst="rect">
            <a:avLst/>
          </a:prstGeom>
          <a:noFill/>
        </p:spPr>
        <p:txBody>
          <a:bodyPr wrap="square" lIns="0" rIns="0" tIns="0" bIns="0" anchor="t">
            <a:spAutoFit/>
          </a:bodyPr>
          <a:lstStyle/>
          <a:p>
            <a:pPr>
              <a:spcAft>
                <a:spcPts val="500"/>
              </a:spcAft>
            </a:pPr>
            <a:r>
              <a:rPr sz="4300" b="1">
                <a:solidFill>
                  <a:srgbClr val="2F6599"/>
                </a:solidFill>
                <a:latin typeface="Noto Sans CJK KR"/>
                <a:ea typeface="Noto Sans CJK KR"/>
              </a:rPr>
              <a:t>−1.4903 pp</a:t>
            </a:r>
          </a:p>
        </p:txBody>
      </p:sp>
      <p:sp>
        <p:nvSpPr>
          <p:cNvPr id="10" name="TextBox 9"/>
          <p:cNvSpPr txBox="1"/>
          <p:nvPr/>
        </p:nvSpPr>
        <p:spPr>
          <a:xfrm>
            <a:off x="713232" y="3822191"/>
            <a:ext cx="4846320" cy="1280160"/>
          </a:xfrm>
          <a:prstGeom prst="rect">
            <a:avLst/>
          </a:prstGeom>
          <a:noFill/>
        </p:spPr>
        <p:txBody>
          <a:bodyPr wrap="square" lIns="0" rIns="0" tIns="0" bIns="0" anchor="t">
            <a:spAutoFit/>
          </a:bodyPr>
          <a:lstStyle/>
          <a:p>
            <a:pPr>
              <a:spcAft>
                <a:spcPts val="500"/>
              </a:spcAft>
            </a:pPr>
            <a:r>
              <a:rPr sz="2100" b="0">
                <a:solidFill>
                  <a:srgbClr val="1F1F1F"/>
                </a:solidFill>
                <a:latin typeface="Noto Sans CJK KR"/>
                <a:ea typeface="Noto Sans CJK KR"/>
              </a:rPr>
              <a:t>15 / 15 cells lower</a:t>
            </a:r>
          </a:p>
          <a:p>
            <a:pPr>
              <a:spcAft>
                <a:spcPts val="500"/>
              </a:spcAft>
            </a:pPr>
            <a:r>
              <a:rPr sz="2100" b="0">
                <a:solidFill>
                  <a:srgbClr val="1F1F1F"/>
                </a:solidFill>
                <a:latin typeface="Noto Sans CJK KR"/>
                <a:ea typeface="Noto Sans CJK KR"/>
              </a:rPr>
              <a:t>3 evaluation seeds</a:t>
            </a:r>
          </a:p>
          <a:p>
            <a:pPr>
              <a:spcAft>
                <a:spcPts val="500"/>
              </a:spcAft>
            </a:pPr>
            <a:r>
              <a:rPr sz="2100" b="0">
                <a:solidFill>
                  <a:srgbClr val="1F1F1F"/>
                </a:solidFill>
                <a:latin typeface="Noto Sans CJK KR"/>
                <a:ea typeface="Noto Sans CJK KR"/>
              </a:rPr>
              <a:t>No collision guarantee</a:t>
            </a:r>
          </a:p>
        </p:txBody>
      </p:sp>
      <p:cxnSp>
        <p:nvCxnSpPr>
          <p:cNvPr id="11" name="Connector 10"/>
          <p:cNvCxnSpPr/>
          <p:nvPr/>
        </p:nvCxnSpPr>
        <p:spPr>
          <a:xfrm>
            <a:off x="7055708" y="2331720"/>
            <a:ext cx="0" cy="2715768"/>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81388" y="5193792"/>
            <a:ext cx="548640" cy="320040"/>
          </a:xfrm>
          <a:prstGeom prst="rect">
            <a:avLst/>
          </a:prstGeom>
          <a:noFill/>
        </p:spPr>
        <p:txBody>
          <a:bodyPr wrap="square" lIns="0" rIns="0" tIns="0" bIns="0" anchor="t">
            <a:spAutoFit/>
          </a:bodyPr>
          <a:lstStyle/>
          <a:p>
            <a:pPr algn="ctr">
              <a:spcAft>
                <a:spcPts val="500"/>
              </a:spcAft>
            </a:pPr>
            <a:r>
              <a:rPr sz="1400" b="0">
                <a:solidFill>
                  <a:srgbClr val="626A73"/>
                </a:solidFill>
                <a:latin typeface="Noto Sans CJK KR"/>
                <a:ea typeface="Noto Sans CJK KR"/>
              </a:rPr>
              <a:t>−3</a:t>
            </a:r>
          </a:p>
        </p:txBody>
      </p:sp>
      <p:cxnSp>
        <p:nvCxnSpPr>
          <p:cNvPr id="13" name="Connector 12"/>
          <p:cNvCxnSpPr/>
          <p:nvPr/>
        </p:nvCxnSpPr>
        <p:spPr>
          <a:xfrm>
            <a:off x="8365524" y="2331720"/>
            <a:ext cx="0" cy="2715768"/>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91204" y="5193792"/>
            <a:ext cx="548640" cy="320040"/>
          </a:xfrm>
          <a:prstGeom prst="rect">
            <a:avLst/>
          </a:prstGeom>
          <a:noFill/>
        </p:spPr>
        <p:txBody>
          <a:bodyPr wrap="square" lIns="0" rIns="0" tIns="0" bIns="0" anchor="t">
            <a:spAutoFit/>
          </a:bodyPr>
          <a:lstStyle/>
          <a:p>
            <a:pPr algn="ctr">
              <a:spcAft>
                <a:spcPts val="500"/>
              </a:spcAft>
            </a:pPr>
            <a:r>
              <a:rPr sz="1400" b="0">
                <a:solidFill>
                  <a:srgbClr val="626A73"/>
                </a:solidFill>
                <a:latin typeface="Noto Sans CJK KR"/>
                <a:ea typeface="Noto Sans CJK KR"/>
              </a:rPr>
              <a:t>−2</a:t>
            </a:r>
          </a:p>
        </p:txBody>
      </p:sp>
      <p:cxnSp>
        <p:nvCxnSpPr>
          <p:cNvPr id="15" name="Connector 14"/>
          <p:cNvCxnSpPr/>
          <p:nvPr/>
        </p:nvCxnSpPr>
        <p:spPr>
          <a:xfrm>
            <a:off x="9675340" y="2331720"/>
            <a:ext cx="0" cy="2715768"/>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401020" y="5193792"/>
            <a:ext cx="548640" cy="320040"/>
          </a:xfrm>
          <a:prstGeom prst="rect">
            <a:avLst/>
          </a:prstGeom>
          <a:noFill/>
        </p:spPr>
        <p:txBody>
          <a:bodyPr wrap="square" lIns="0" rIns="0" tIns="0" bIns="0" anchor="t">
            <a:spAutoFit/>
          </a:bodyPr>
          <a:lstStyle/>
          <a:p>
            <a:pPr algn="ctr">
              <a:spcAft>
                <a:spcPts val="500"/>
              </a:spcAft>
            </a:pPr>
            <a:r>
              <a:rPr sz="1400" b="0">
                <a:solidFill>
                  <a:srgbClr val="626A73"/>
                </a:solidFill>
                <a:latin typeface="Noto Sans CJK KR"/>
                <a:ea typeface="Noto Sans CJK KR"/>
              </a:rPr>
              <a:t>−1</a:t>
            </a:r>
          </a:p>
        </p:txBody>
      </p:sp>
      <p:cxnSp>
        <p:nvCxnSpPr>
          <p:cNvPr id="17" name="Connector 16"/>
          <p:cNvCxnSpPr/>
          <p:nvPr/>
        </p:nvCxnSpPr>
        <p:spPr>
          <a:xfrm>
            <a:off x="10985156" y="2331720"/>
            <a:ext cx="0" cy="2715768"/>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710836" y="5193792"/>
            <a:ext cx="548640" cy="320040"/>
          </a:xfrm>
          <a:prstGeom prst="rect">
            <a:avLst/>
          </a:prstGeom>
          <a:noFill/>
        </p:spPr>
        <p:txBody>
          <a:bodyPr wrap="square" lIns="0" rIns="0" tIns="0" bIns="0" anchor="t">
            <a:spAutoFit/>
          </a:bodyPr>
          <a:lstStyle/>
          <a:p>
            <a:pPr algn="ctr">
              <a:spcAft>
                <a:spcPts val="500"/>
              </a:spcAft>
            </a:pPr>
            <a:r>
              <a:rPr sz="1400" b="0">
                <a:solidFill>
                  <a:srgbClr val="626A73"/>
                </a:solidFill>
                <a:latin typeface="Noto Sans CJK KR"/>
                <a:ea typeface="Noto Sans CJK KR"/>
              </a:rPr>
              <a:t>0</a:t>
            </a:r>
          </a:p>
        </p:txBody>
      </p:sp>
      <p:sp>
        <p:nvSpPr>
          <p:cNvPr id="19" name="TextBox 18"/>
          <p:cNvSpPr txBox="1"/>
          <p:nvPr/>
        </p:nvSpPr>
        <p:spPr>
          <a:xfrm>
            <a:off x="5440680" y="2560320"/>
            <a:ext cx="868680" cy="274320"/>
          </a:xfrm>
          <a:prstGeom prst="rect">
            <a:avLst/>
          </a:prstGeom>
          <a:noFill/>
        </p:spPr>
        <p:txBody>
          <a:bodyPr wrap="square" lIns="0" rIns="0" tIns="0" bIns="0" anchor="t">
            <a:spAutoFit/>
          </a:bodyPr>
          <a:lstStyle/>
          <a:p>
            <a:pPr>
              <a:spcAft>
                <a:spcPts val="500"/>
              </a:spcAft>
            </a:pPr>
            <a:r>
              <a:rPr sz="1100" b="0">
                <a:solidFill>
                  <a:srgbClr val="626A73"/>
                </a:solidFill>
                <a:latin typeface="Noto Sans CJK KR"/>
                <a:ea typeface="Noto Sans CJK KR"/>
              </a:rPr>
              <a:t>seed 523</a:t>
            </a:r>
          </a:p>
        </p:txBody>
      </p:sp>
      <p:sp>
        <p:nvSpPr>
          <p:cNvPr id="20" name="Oval 19"/>
          <p:cNvSpPr/>
          <p:nvPr/>
        </p:nvSpPr>
        <p:spPr>
          <a:xfrm>
            <a:off x="9338567" y="2553919"/>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31748" y="2613355"/>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57714" y="2672791"/>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782392" y="2732227"/>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79220" y="2791663"/>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40680" y="3392424"/>
            <a:ext cx="868680" cy="274320"/>
          </a:xfrm>
          <a:prstGeom prst="rect">
            <a:avLst/>
          </a:prstGeom>
          <a:noFill/>
        </p:spPr>
        <p:txBody>
          <a:bodyPr wrap="square" lIns="0" rIns="0" tIns="0" bIns="0" anchor="t">
            <a:spAutoFit/>
          </a:bodyPr>
          <a:lstStyle/>
          <a:p>
            <a:pPr>
              <a:spcAft>
                <a:spcPts val="500"/>
              </a:spcAft>
            </a:pPr>
            <a:r>
              <a:rPr sz="1100" b="0">
                <a:solidFill>
                  <a:srgbClr val="626A73"/>
                </a:solidFill>
                <a:latin typeface="Noto Sans CJK KR"/>
                <a:ea typeface="Noto Sans CJK KR"/>
              </a:rPr>
              <a:t>seed 527</a:t>
            </a:r>
          </a:p>
        </p:txBody>
      </p:sp>
      <p:sp>
        <p:nvSpPr>
          <p:cNvPr id="26" name="Oval 25"/>
          <p:cNvSpPr/>
          <p:nvPr/>
        </p:nvSpPr>
        <p:spPr>
          <a:xfrm>
            <a:off x="7550949" y="3386023"/>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82392" y="3445459"/>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398844" y="3504895"/>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79115" y="3564331"/>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026655" y="3623767"/>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40680" y="4224528"/>
            <a:ext cx="868680" cy="274320"/>
          </a:xfrm>
          <a:prstGeom prst="rect">
            <a:avLst/>
          </a:prstGeom>
          <a:noFill/>
        </p:spPr>
        <p:txBody>
          <a:bodyPr wrap="square" lIns="0" rIns="0" tIns="0" bIns="0" anchor="t">
            <a:spAutoFit/>
          </a:bodyPr>
          <a:lstStyle/>
          <a:p>
            <a:pPr>
              <a:spcAft>
                <a:spcPts val="500"/>
              </a:spcAft>
            </a:pPr>
            <a:r>
              <a:rPr sz="1100" b="0">
                <a:solidFill>
                  <a:srgbClr val="626A73"/>
                </a:solidFill>
                <a:latin typeface="Noto Sans CJK KR"/>
                <a:ea typeface="Noto Sans CJK KR"/>
              </a:rPr>
              <a:t>seed 531</a:t>
            </a:r>
          </a:p>
        </p:txBody>
      </p:sp>
      <p:sp>
        <p:nvSpPr>
          <p:cNvPr id="32" name="Oval 31"/>
          <p:cNvSpPr/>
          <p:nvPr/>
        </p:nvSpPr>
        <p:spPr>
          <a:xfrm>
            <a:off x="8500905" y="4218127"/>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526693" y="4277563"/>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659683" y="4336999"/>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434985" y="4396435"/>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4073" y="4455871"/>
            <a:ext cx="104241" cy="104241"/>
          </a:xfrm>
          <a:prstGeom prst="ellipse">
            <a:avLst/>
          </a:prstGeom>
          <a:solidFill>
            <a:srgbClr val="FBFAF7"/>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458968"/>
            <a:ext cx="5760720" cy="320040"/>
          </a:xfrm>
          <a:prstGeom prst="rect">
            <a:avLst/>
          </a:prstGeom>
          <a:noFill/>
        </p:spPr>
        <p:txBody>
          <a:bodyPr wrap="square" lIns="0" rIns="0" tIns="0" bIns="0" anchor="t">
            <a:spAutoFit/>
          </a:bodyPr>
          <a:lstStyle/>
          <a:p>
            <a:pPr>
              <a:spcAft>
                <a:spcPts val="500"/>
              </a:spcAft>
            </a:pPr>
            <a:r>
              <a:rPr sz="1300" b="0">
                <a:solidFill>
                  <a:srgbClr val="626A73"/>
                </a:solidFill>
                <a:latin typeface="Noto Sans CJK KR"/>
                <a:ea typeface="Noto Sans CJK KR"/>
              </a:rPr>
              <a:t>Crash difference per cell (pp)  ·  seed-level 95% CI [−2.42, −0.57]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06 / CENTRAL RESULT · INDEPENDENT REPLICATION</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교정된 할당량에서도 세 방향성 대비가 재현됐다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E2 positive: 5/7 at 160 bars, 4/7 at 205 bars  ·  Density-specific analyses are exploratory</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07 / 12</a:t>
            </a:r>
          </a:p>
        </p:txBody>
      </p:sp>
      <p:sp>
        <p:nvSpPr>
          <p:cNvPr id="8" name="TextBox 7"/>
          <p:cNvSpPr txBox="1"/>
          <p:nvPr/>
        </p:nvSpPr>
        <p:spPr>
          <a:xfrm>
            <a:off x="685800" y="1938528"/>
            <a:ext cx="10881360" cy="411480"/>
          </a:xfrm>
          <a:prstGeom prst="rect">
            <a:avLst/>
          </a:prstGeom>
          <a:noFill/>
        </p:spPr>
        <p:txBody>
          <a:bodyPr wrap="square" lIns="0" rIns="0" tIns="0" bIns="0" anchor="t">
            <a:spAutoFit/>
          </a:bodyPr>
          <a:lstStyle/>
          <a:p>
            <a:pPr>
              <a:spcAft>
                <a:spcPts val="500"/>
              </a:spcAft>
            </a:pPr>
            <a:r>
              <a:rPr sz="2000" b="0">
                <a:solidFill>
                  <a:srgbClr val="626A73"/>
                </a:solidFill>
                <a:latin typeface="Noto Sans CJK KR"/>
                <a:ea typeface="Noto Sans CJK KR"/>
              </a:rPr>
              <a:t>7 fresh seeds  ·  112 cells  ·  229,376 primary episodes</a:t>
            </a:r>
          </a:p>
        </p:txBody>
      </p:sp>
      <p:cxnSp>
        <p:nvCxnSpPr>
          <p:cNvPr id="9" name="Connector 8"/>
          <p:cNvCxnSpPr/>
          <p:nvPr/>
        </p:nvCxnSpPr>
        <p:spPr>
          <a:xfrm>
            <a:off x="3651199" y="2633472"/>
            <a:ext cx="0" cy="2404872"/>
          </a:xfrm>
          <a:prstGeom prst="line">
            <a:avLst/>
          </a:prstGeom>
          <a:ln w="10160">
            <a:solidFill>
              <a:srgbClr val="D7DCE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76879" y="5093208"/>
            <a:ext cx="548640" cy="27432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−6</a:t>
            </a:r>
          </a:p>
        </p:txBody>
      </p:sp>
      <p:cxnSp>
        <p:nvCxnSpPr>
          <p:cNvPr id="11" name="Connector 10"/>
          <p:cNvCxnSpPr/>
          <p:nvPr/>
        </p:nvCxnSpPr>
        <p:spPr>
          <a:xfrm>
            <a:off x="4607661" y="2633472"/>
            <a:ext cx="0" cy="2404872"/>
          </a:xfrm>
          <a:prstGeom prst="line">
            <a:avLst/>
          </a:prstGeom>
          <a:ln w="10160">
            <a:solidFill>
              <a:srgbClr val="D7DC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33341" y="5093208"/>
            <a:ext cx="548640" cy="27432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−4</a:t>
            </a:r>
          </a:p>
        </p:txBody>
      </p:sp>
      <p:cxnSp>
        <p:nvCxnSpPr>
          <p:cNvPr id="13" name="Connector 12"/>
          <p:cNvCxnSpPr/>
          <p:nvPr/>
        </p:nvCxnSpPr>
        <p:spPr>
          <a:xfrm>
            <a:off x="5564123" y="2633472"/>
            <a:ext cx="0" cy="2404872"/>
          </a:xfrm>
          <a:prstGeom prst="line">
            <a:avLst/>
          </a:prstGeom>
          <a:ln w="10160">
            <a:solidFill>
              <a:srgbClr val="D7DCE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289803" y="5093208"/>
            <a:ext cx="548640" cy="27432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−2</a:t>
            </a:r>
          </a:p>
        </p:txBody>
      </p:sp>
      <p:cxnSp>
        <p:nvCxnSpPr>
          <p:cNvPr id="15" name="Connector 14"/>
          <p:cNvCxnSpPr/>
          <p:nvPr/>
        </p:nvCxnSpPr>
        <p:spPr>
          <a:xfrm>
            <a:off x="6520586" y="2633472"/>
            <a:ext cx="0" cy="2404872"/>
          </a:xfrm>
          <a:prstGeom prst="line">
            <a:avLst/>
          </a:prstGeom>
          <a:ln w="10160">
            <a:solidFill>
              <a:srgbClr val="1F1F1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46266" y="5093208"/>
            <a:ext cx="548640" cy="27432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0</a:t>
            </a:r>
          </a:p>
        </p:txBody>
      </p:sp>
      <p:cxnSp>
        <p:nvCxnSpPr>
          <p:cNvPr id="17" name="Connector 16"/>
          <p:cNvCxnSpPr/>
          <p:nvPr/>
        </p:nvCxnSpPr>
        <p:spPr>
          <a:xfrm>
            <a:off x="7477048" y="2633472"/>
            <a:ext cx="0" cy="2404872"/>
          </a:xfrm>
          <a:prstGeom prst="line">
            <a:avLst/>
          </a:prstGeom>
          <a:ln w="10160">
            <a:solidFill>
              <a:srgbClr val="D7DCE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202728" y="5093208"/>
            <a:ext cx="548640" cy="274320"/>
          </a:xfrm>
          <a:prstGeom prst="rect">
            <a:avLst/>
          </a:prstGeom>
          <a:noFill/>
        </p:spPr>
        <p:txBody>
          <a:bodyPr wrap="square" lIns="0" rIns="0" tIns="0" bIns="0" anchor="t">
            <a:spAutoFit/>
          </a:bodyPr>
          <a:lstStyle/>
          <a:p>
            <a:pPr algn="ctr">
              <a:spcAft>
                <a:spcPts val="500"/>
              </a:spcAft>
            </a:pPr>
            <a:r>
              <a:rPr sz="1300" b="0">
                <a:solidFill>
                  <a:srgbClr val="626A73"/>
                </a:solidFill>
                <a:latin typeface="Noto Sans CJK KR"/>
                <a:ea typeface="Noto Sans CJK KR"/>
              </a:rPr>
              <a:t>2</a:t>
            </a:r>
          </a:p>
        </p:txBody>
      </p:sp>
      <p:sp>
        <p:nvSpPr>
          <p:cNvPr id="19" name="TextBox 18"/>
          <p:cNvSpPr txBox="1"/>
          <p:nvPr/>
        </p:nvSpPr>
        <p:spPr>
          <a:xfrm>
            <a:off x="731520" y="2770632"/>
            <a:ext cx="2377440" cy="45720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E0  Static</a:t>
            </a:r>
          </a:p>
        </p:txBody>
      </p:sp>
      <p:sp>
        <p:nvSpPr>
          <p:cNvPr id="20" name="Oval 19"/>
          <p:cNvSpPr/>
          <p:nvPr/>
        </p:nvSpPr>
        <p:spPr>
          <a:xfrm>
            <a:off x="3812837" y="2743200"/>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672730" y="2880360"/>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935430" y="3017520"/>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31642" y="2743200"/>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777810" y="2880360"/>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03434" y="3017520"/>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215644" y="2743200"/>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3757647" y="2935224"/>
            <a:ext cx="445339" cy="0"/>
          </a:xfrm>
          <a:prstGeom prst="line">
            <a:avLst/>
          </a:prstGeom>
          <a:ln w="38100">
            <a:solidFill>
              <a:srgbClr val="2F6599"/>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880558" y="2862986"/>
            <a:ext cx="144475" cy="144475"/>
          </a:xfrm>
          <a:prstGeom prst="ellipse">
            <a:avLst/>
          </a:prstGeom>
          <a:solidFill>
            <a:srgbClr val="2F6599"/>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8" y="2660904"/>
            <a:ext cx="3291840" cy="438912"/>
          </a:xfrm>
          <a:prstGeom prst="rect">
            <a:avLst/>
          </a:prstGeom>
          <a:noFill/>
        </p:spPr>
        <p:txBody>
          <a:bodyPr wrap="square" lIns="0" rIns="0" tIns="0" bIns="0" anchor="t">
            <a:spAutoFit/>
          </a:bodyPr>
          <a:lstStyle/>
          <a:p>
            <a:pPr>
              <a:spcAft>
                <a:spcPts val="500"/>
              </a:spcAft>
            </a:pPr>
            <a:r>
              <a:rPr sz="2800" b="1">
                <a:solidFill>
                  <a:srgbClr val="2F6599"/>
                </a:solidFill>
                <a:latin typeface="Noto Sans CJK KR"/>
                <a:ea typeface="Noto Sans CJK KR"/>
              </a:rPr>
              <a:t>−5.37 pp</a:t>
            </a:r>
          </a:p>
        </p:txBody>
      </p:sp>
      <p:sp>
        <p:nvSpPr>
          <p:cNvPr id="30" name="TextBox 29"/>
          <p:cNvSpPr txBox="1"/>
          <p:nvPr/>
        </p:nvSpPr>
        <p:spPr>
          <a:xfrm>
            <a:off x="8247888" y="3127248"/>
            <a:ext cx="3291840" cy="274320"/>
          </a:xfrm>
          <a:prstGeom prst="rect">
            <a:avLst/>
          </a:prstGeom>
          <a:noFill/>
        </p:spPr>
        <p:txBody>
          <a:bodyPr wrap="square" lIns="0" rIns="0" tIns="0" bIns="0" anchor="t">
            <a:spAutoFit/>
          </a:bodyPr>
          <a:lstStyle/>
          <a:p>
            <a:pPr>
              <a:spcAft>
                <a:spcPts val="500"/>
              </a:spcAft>
            </a:pPr>
            <a:r>
              <a:rPr sz="1400" b="0">
                <a:solidFill>
                  <a:srgbClr val="626A73"/>
                </a:solidFill>
                <a:latin typeface="Noto Sans CJK KR"/>
                <a:ea typeface="Noto Sans CJK KR"/>
              </a:rPr>
              <a:t>[−5.78, −4.85]  BCa95</a:t>
            </a:r>
          </a:p>
        </p:txBody>
      </p:sp>
      <p:sp>
        <p:nvSpPr>
          <p:cNvPr id="31" name="TextBox 30"/>
          <p:cNvSpPr txBox="1"/>
          <p:nvPr/>
        </p:nvSpPr>
        <p:spPr>
          <a:xfrm>
            <a:off x="731520" y="3566160"/>
            <a:ext cx="2377440" cy="45720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E1  Constant velocity</a:t>
            </a:r>
          </a:p>
        </p:txBody>
      </p:sp>
      <p:sp>
        <p:nvSpPr>
          <p:cNvPr id="32" name="Oval 31"/>
          <p:cNvSpPr/>
          <p:nvPr/>
        </p:nvSpPr>
        <p:spPr>
          <a:xfrm>
            <a:off x="4980393" y="3538728"/>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927853" y="3675888"/>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41044" y="3813048"/>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781909" y="3538728"/>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723531" y="3675888"/>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454993" y="3813048"/>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178878" y="3538728"/>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4708371" y="3730752"/>
            <a:ext cx="322746" cy="0"/>
          </a:xfrm>
          <a:prstGeom prst="line">
            <a:avLst/>
          </a:prstGeom>
          <a:ln w="38100">
            <a:solidFill>
              <a:srgbClr val="2F6599"/>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4800425" y="3658514"/>
            <a:ext cx="144475" cy="144475"/>
          </a:xfrm>
          <a:prstGeom prst="ellipse">
            <a:avLst/>
          </a:prstGeom>
          <a:solidFill>
            <a:srgbClr val="2F6599"/>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47888" y="3456432"/>
            <a:ext cx="3291840" cy="438912"/>
          </a:xfrm>
          <a:prstGeom prst="rect">
            <a:avLst/>
          </a:prstGeom>
          <a:noFill/>
        </p:spPr>
        <p:txBody>
          <a:bodyPr wrap="square" lIns="0" rIns="0" tIns="0" bIns="0" anchor="t">
            <a:spAutoFit/>
          </a:bodyPr>
          <a:lstStyle/>
          <a:p>
            <a:pPr>
              <a:spcAft>
                <a:spcPts val="500"/>
              </a:spcAft>
            </a:pPr>
            <a:r>
              <a:rPr sz="2800" b="1">
                <a:solidFill>
                  <a:srgbClr val="2F6599"/>
                </a:solidFill>
                <a:latin typeface="Noto Sans CJK KR"/>
                <a:ea typeface="Noto Sans CJK KR"/>
              </a:rPr>
              <a:t>−3.45 pp</a:t>
            </a:r>
          </a:p>
        </p:txBody>
      </p:sp>
      <p:sp>
        <p:nvSpPr>
          <p:cNvPr id="42" name="TextBox 41"/>
          <p:cNvSpPr txBox="1"/>
          <p:nvPr/>
        </p:nvSpPr>
        <p:spPr>
          <a:xfrm>
            <a:off x="8247888" y="3922776"/>
            <a:ext cx="3291840" cy="274320"/>
          </a:xfrm>
          <a:prstGeom prst="rect">
            <a:avLst/>
          </a:prstGeom>
          <a:noFill/>
        </p:spPr>
        <p:txBody>
          <a:bodyPr wrap="square" lIns="0" rIns="0" tIns="0" bIns="0" anchor="t">
            <a:spAutoFit/>
          </a:bodyPr>
          <a:lstStyle/>
          <a:p>
            <a:pPr>
              <a:spcAft>
                <a:spcPts val="500"/>
              </a:spcAft>
            </a:pPr>
            <a:r>
              <a:rPr sz="1400" b="0">
                <a:solidFill>
                  <a:srgbClr val="626A73"/>
                </a:solidFill>
                <a:latin typeface="Noto Sans CJK KR"/>
                <a:ea typeface="Noto Sans CJK KR"/>
              </a:rPr>
              <a:t>[−3.79, −3.11]  BCa95</a:t>
            </a:r>
          </a:p>
        </p:txBody>
      </p:sp>
      <p:sp>
        <p:nvSpPr>
          <p:cNvPr id="43" name="TextBox 42"/>
          <p:cNvSpPr txBox="1"/>
          <p:nvPr/>
        </p:nvSpPr>
        <p:spPr>
          <a:xfrm>
            <a:off x="731520" y="4361688"/>
            <a:ext cx="2377440" cy="457200"/>
          </a:xfrm>
          <a:prstGeom prst="rect">
            <a:avLst/>
          </a:prstGeom>
          <a:noFill/>
        </p:spPr>
        <p:txBody>
          <a:bodyPr wrap="square" lIns="0" rIns="0" tIns="0" bIns="0" anchor="t">
            <a:spAutoFit/>
          </a:bodyPr>
          <a:lstStyle/>
          <a:p>
            <a:pPr>
              <a:spcAft>
                <a:spcPts val="500"/>
              </a:spcAft>
            </a:pPr>
            <a:r>
              <a:rPr sz="1800" b="0">
                <a:solidFill>
                  <a:srgbClr val="1F1F1F"/>
                </a:solidFill>
                <a:latin typeface="Noto Sans CJK KR"/>
                <a:ea typeface="Noto Sans CJK KR"/>
              </a:rPr>
              <a:t>E2  Obstacle-aware</a:t>
            </a:r>
          </a:p>
        </p:txBody>
      </p:sp>
      <p:sp>
        <p:nvSpPr>
          <p:cNvPr id="44" name="Oval 43"/>
          <p:cNvSpPr/>
          <p:nvPr/>
        </p:nvSpPr>
        <p:spPr>
          <a:xfrm>
            <a:off x="7058644" y="4334256"/>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081995" y="4471416"/>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630747" y="4608576"/>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035293" y="4334256"/>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918537" y="4471416"/>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854322" y="4608576"/>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80480" y="4334256"/>
            <a:ext cx="91440" cy="91440"/>
          </a:xfrm>
          <a:prstGeom prst="ellipse">
            <a:avLst/>
          </a:prstGeom>
          <a:solidFill>
            <a:srgbClr val="FBFAF7"/>
          </a:solidFill>
          <a:ln w="12700">
            <a:solidFill>
              <a:srgbClr val="626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7031809" y="4526280"/>
            <a:ext cx="381958" cy="0"/>
          </a:xfrm>
          <a:prstGeom prst="line">
            <a:avLst/>
          </a:prstGeom>
          <a:ln w="38100">
            <a:solidFill>
              <a:srgbClr val="2F6599"/>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7096342" y="4454042"/>
            <a:ext cx="144475" cy="144475"/>
          </a:xfrm>
          <a:prstGeom prst="ellipse">
            <a:avLst/>
          </a:prstGeom>
          <a:solidFill>
            <a:srgbClr val="2F6599"/>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47888" y="4251960"/>
            <a:ext cx="3291840" cy="438912"/>
          </a:xfrm>
          <a:prstGeom prst="rect">
            <a:avLst/>
          </a:prstGeom>
          <a:noFill/>
        </p:spPr>
        <p:txBody>
          <a:bodyPr wrap="square" lIns="0" rIns="0" tIns="0" bIns="0" anchor="t">
            <a:spAutoFit/>
          </a:bodyPr>
          <a:lstStyle/>
          <a:p>
            <a:pPr>
              <a:spcAft>
                <a:spcPts val="500"/>
              </a:spcAft>
            </a:pPr>
            <a:r>
              <a:rPr sz="2800" b="1">
                <a:solidFill>
                  <a:srgbClr val="2F6599"/>
                </a:solidFill>
                <a:latin typeface="Noto Sans CJK KR"/>
                <a:ea typeface="Noto Sans CJK KR"/>
              </a:rPr>
              <a:t>+1.35 pp</a:t>
            </a:r>
          </a:p>
        </p:txBody>
      </p:sp>
      <p:sp>
        <p:nvSpPr>
          <p:cNvPr id="54" name="TextBox 53"/>
          <p:cNvSpPr txBox="1"/>
          <p:nvPr/>
        </p:nvSpPr>
        <p:spPr>
          <a:xfrm>
            <a:off x="8247888" y="4718304"/>
            <a:ext cx="3291840" cy="274320"/>
          </a:xfrm>
          <a:prstGeom prst="rect">
            <a:avLst/>
          </a:prstGeom>
          <a:noFill/>
        </p:spPr>
        <p:txBody>
          <a:bodyPr wrap="square" lIns="0" rIns="0" tIns="0" bIns="0" anchor="t">
            <a:spAutoFit/>
          </a:bodyPr>
          <a:lstStyle/>
          <a:p>
            <a:pPr>
              <a:spcAft>
                <a:spcPts val="500"/>
              </a:spcAft>
            </a:pPr>
            <a:r>
              <a:rPr sz="1400" b="0">
                <a:solidFill>
                  <a:srgbClr val="626A73"/>
                </a:solidFill>
                <a:latin typeface="Noto Sans CJK KR"/>
                <a:ea typeface="Noto Sans CJK KR"/>
              </a:rPr>
              <a:t>[+1.07, +1.87]  BCa95</a:t>
            </a:r>
          </a:p>
        </p:txBody>
      </p:sp>
      <p:sp>
        <p:nvSpPr>
          <p:cNvPr id="55" name="TextBox 54"/>
          <p:cNvSpPr txBox="1"/>
          <p:nvPr/>
        </p:nvSpPr>
        <p:spPr>
          <a:xfrm>
            <a:off x="713232" y="5495544"/>
            <a:ext cx="10881360" cy="274320"/>
          </a:xfrm>
          <a:prstGeom prst="rect">
            <a:avLst/>
          </a:prstGeom>
          <a:noFill/>
        </p:spPr>
        <p:txBody>
          <a:bodyPr wrap="square" lIns="0" rIns="0" tIns="0" bIns="0" anchor="t">
            <a:spAutoFit/>
          </a:bodyPr>
          <a:lstStyle/>
          <a:p>
            <a:pPr>
              <a:spcAft>
                <a:spcPts val="500"/>
              </a:spcAft>
            </a:pPr>
            <a:r>
              <a:rPr sz="1400" b="0">
                <a:solidFill>
                  <a:srgbClr val="626A73"/>
                </a:solidFill>
                <a:latin typeface="Noto Sans CJK KR"/>
                <a:ea typeface="Noto Sans CJK KR"/>
              </a:rPr>
              <a:t>All 7 / 7 directions agree  ·  exact p = 0.015625  ·  Holm p = 0.046875 (resolution boundary)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07 / OBSERVATION-CONTRACT SENSITIVITY</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관측 계약 변화에서 손실을 확인했고, 원인은 미검증이다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MATERIAL_LOSS  ·  causality_vs_d8b = NOT_TESTED  ·  Policy R, not F</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08 / 12</a:t>
            </a:r>
          </a:p>
        </p:txBody>
      </p:sp>
      <p:sp>
        <p:nvSpPr>
          <p:cNvPr id="8" name="TextBox 7"/>
          <p:cNvSpPr txBox="1"/>
          <p:nvPr/>
        </p:nvSpPr>
        <p:spPr>
          <a:xfrm>
            <a:off x="731520" y="2121408"/>
            <a:ext cx="5029200" cy="594360"/>
          </a:xfrm>
          <a:prstGeom prst="rect">
            <a:avLst/>
          </a:prstGeom>
          <a:noFill/>
        </p:spPr>
        <p:txBody>
          <a:bodyPr wrap="square" lIns="0" rIns="0" tIns="0" bIns="0" anchor="t">
            <a:spAutoFit/>
          </a:bodyPr>
          <a:lstStyle/>
          <a:p>
            <a:pPr>
              <a:spcAft>
                <a:spcPts val="500"/>
              </a:spcAft>
            </a:pPr>
            <a:r>
              <a:rPr sz="2200" b="0">
                <a:solidFill>
                  <a:srgbClr val="1F1F1F"/>
                </a:solidFill>
                <a:latin typeface="Noto Sans CJK KR"/>
                <a:ea typeface="Noto Sans CJK KR"/>
              </a:rPr>
              <a:t>Same detector + frozen policy R</a:t>
            </a:r>
          </a:p>
          <a:p>
            <a:pPr>
              <a:spcAft>
                <a:spcPts val="500"/>
              </a:spcAft>
            </a:pPr>
            <a:r>
              <a:rPr sz="2200" b="0">
                <a:solidFill>
                  <a:srgbClr val="1F1F1F"/>
                </a:solidFill>
                <a:latin typeface="Noto Sans CJK KR"/>
                <a:ea typeface="Noto Sans CJK KR"/>
              </a:rPr>
              <a:t>Different observation treatment</a:t>
            </a:r>
          </a:p>
        </p:txBody>
      </p:sp>
      <p:sp>
        <p:nvSpPr>
          <p:cNvPr id="9" name="Rectangle 8"/>
          <p:cNvSpPr/>
          <p:nvPr/>
        </p:nvSpPr>
        <p:spPr>
          <a:xfrm>
            <a:off x="731520" y="3401568"/>
            <a:ext cx="1536192" cy="105156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3630168"/>
            <a:ext cx="1307592" cy="640080"/>
          </a:xfrm>
          <a:prstGeom prst="rect">
            <a:avLst/>
          </a:prstGeom>
          <a:noFill/>
        </p:spPr>
        <p:txBody>
          <a:bodyPr wrap="square" lIns="0" rIns="0" tIns="0" bIns="0" anchor="t">
            <a:spAutoFit/>
          </a:bodyPr>
          <a:lstStyle/>
          <a:p>
            <a:pPr algn="ctr">
              <a:spcAft>
                <a:spcPts val="500"/>
              </a:spcAft>
            </a:pPr>
            <a:r>
              <a:rPr sz="1700" b="1">
                <a:solidFill>
                  <a:srgbClr val="2F6599"/>
                </a:solidFill>
                <a:latin typeface="Noto Sans CJK KR"/>
                <a:ea typeface="Noto Sans CJK KR"/>
              </a:rPr>
              <a:t>Analytic proxy</a:t>
            </a:r>
          </a:p>
        </p:txBody>
      </p:sp>
      <p:sp>
        <p:nvSpPr>
          <p:cNvPr id="11" name="Rectangle 10"/>
          <p:cNvSpPr/>
          <p:nvPr/>
        </p:nvSpPr>
        <p:spPr>
          <a:xfrm>
            <a:off x="2450591" y="3401568"/>
            <a:ext cx="1536192" cy="105156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630168"/>
            <a:ext cx="1307592" cy="640080"/>
          </a:xfrm>
          <a:prstGeom prst="rect">
            <a:avLst/>
          </a:prstGeom>
          <a:noFill/>
        </p:spPr>
        <p:txBody>
          <a:bodyPr wrap="square" lIns="0" rIns="0" tIns="0" bIns="0" anchor="t">
            <a:spAutoFit/>
          </a:bodyPr>
          <a:lstStyle/>
          <a:p>
            <a:pPr algn="ctr">
              <a:spcAft>
                <a:spcPts val="500"/>
              </a:spcAft>
            </a:pPr>
            <a:r>
              <a:rPr sz="1700" b="1">
                <a:solidFill>
                  <a:srgbClr val="2F6599"/>
                </a:solidFill>
                <a:latin typeface="Noto Sans CJK KR"/>
                <a:ea typeface="Noto Sans CJK KR"/>
              </a:rPr>
              <a:t>Mesh flat</a:t>
            </a:r>
          </a:p>
        </p:txBody>
      </p:sp>
      <p:sp>
        <p:nvSpPr>
          <p:cNvPr id="13" name="Rectangle 12"/>
          <p:cNvSpPr/>
          <p:nvPr/>
        </p:nvSpPr>
        <p:spPr>
          <a:xfrm>
            <a:off x="4169663" y="3401568"/>
            <a:ext cx="1536192" cy="1051560"/>
          </a:xfrm>
          <a:prstGeom prst="rect">
            <a:avLst/>
          </a:prstGeom>
          <a:solidFill>
            <a:srgbClr val="FFFFFF"/>
          </a:solidFill>
          <a:ln>
            <a:solidFill>
              <a:srgbClr val="D7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9392" y="3630168"/>
            <a:ext cx="1307592" cy="640080"/>
          </a:xfrm>
          <a:prstGeom prst="rect">
            <a:avLst/>
          </a:prstGeom>
          <a:noFill/>
        </p:spPr>
        <p:txBody>
          <a:bodyPr wrap="square" lIns="0" rIns="0" tIns="0" bIns="0" anchor="t">
            <a:spAutoFit/>
          </a:bodyPr>
          <a:lstStyle/>
          <a:p>
            <a:pPr algn="ctr">
              <a:spcAft>
                <a:spcPts val="500"/>
              </a:spcAft>
            </a:pPr>
            <a:r>
              <a:rPr sz="1700" b="1">
                <a:solidFill>
                  <a:srgbClr val="2F6599"/>
                </a:solidFill>
                <a:latin typeface="Noto Sans CJK KR"/>
                <a:ea typeface="Noto Sans CJK KR"/>
              </a:rPr>
              <a:t>Mesh shaded</a:t>
            </a:r>
          </a:p>
        </p:txBody>
      </p:sp>
      <p:cxnSp>
        <p:nvCxnSpPr>
          <p:cNvPr id="15" name="Connector 14"/>
          <p:cNvCxnSpPr/>
          <p:nvPr/>
        </p:nvCxnSpPr>
        <p:spPr>
          <a:xfrm>
            <a:off x="6071616" y="2194560"/>
            <a:ext cx="0" cy="306324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0" y="2542032"/>
            <a:ext cx="4846320" cy="45720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Mesh shaded − analytic / capture</a:t>
            </a:r>
          </a:p>
        </p:txBody>
      </p:sp>
      <p:sp>
        <p:nvSpPr>
          <p:cNvPr id="17" name="TextBox 16"/>
          <p:cNvSpPr txBox="1"/>
          <p:nvPr/>
        </p:nvSpPr>
        <p:spPr>
          <a:xfrm>
            <a:off x="6583680" y="3264408"/>
            <a:ext cx="4846320" cy="777240"/>
          </a:xfrm>
          <a:prstGeom prst="rect">
            <a:avLst/>
          </a:prstGeom>
          <a:noFill/>
        </p:spPr>
        <p:txBody>
          <a:bodyPr wrap="square" lIns="0" rIns="0" tIns="0" bIns="0" anchor="t">
            <a:spAutoFit/>
          </a:bodyPr>
          <a:lstStyle/>
          <a:p>
            <a:pPr>
              <a:spcAft>
                <a:spcPts val="500"/>
              </a:spcAft>
            </a:pPr>
            <a:r>
              <a:rPr sz="4000" b="1">
                <a:solidFill>
                  <a:srgbClr val="2F6599"/>
                </a:solidFill>
                <a:latin typeface="Noto Sans CJK KR"/>
                <a:ea typeface="Noto Sans CJK KR"/>
              </a:rPr>
              <a:t>−48.967 pp</a:t>
            </a:r>
          </a:p>
        </p:txBody>
      </p:sp>
      <p:sp>
        <p:nvSpPr>
          <p:cNvPr id="18" name="TextBox 17"/>
          <p:cNvSpPr txBox="1"/>
          <p:nvPr/>
        </p:nvSpPr>
        <p:spPr>
          <a:xfrm>
            <a:off x="6583680" y="4343400"/>
            <a:ext cx="4937760" cy="731520"/>
          </a:xfrm>
          <a:prstGeom prst="rect">
            <a:avLst/>
          </a:prstGeom>
          <a:noFill/>
        </p:spPr>
        <p:txBody>
          <a:bodyPr wrap="square" lIns="0" rIns="0" tIns="0" bIns="0" anchor="t">
            <a:spAutoFit/>
          </a:bodyPr>
          <a:lstStyle/>
          <a:p>
            <a:pPr>
              <a:spcAft>
                <a:spcPts val="500"/>
              </a:spcAft>
            </a:pPr>
            <a:r>
              <a:rPr sz="1700" b="0">
                <a:solidFill>
                  <a:srgbClr val="1F1F1F"/>
                </a:solidFill>
                <a:latin typeface="Noto Sans CJK KR"/>
                <a:ea typeface="Noto Sans CJK KR"/>
              </a:rPr>
              <a:t>[−50.113, −47.821] pp</a:t>
            </a:r>
          </a:p>
          <a:p>
            <a:pPr>
              <a:spcAft>
                <a:spcPts val="500"/>
              </a:spcAft>
            </a:pPr>
            <a:r>
              <a:rPr sz="1700" b="0">
                <a:solidFill>
                  <a:srgbClr val="1F1F1F"/>
                </a:solidFill>
                <a:latin typeface="Noto Sans CJK KR"/>
                <a:ea typeface="Noto Sans CJK KR"/>
              </a:rPr>
              <a:t>95% CI · 3 paired evaluation seeds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08 / RELATION TO PUBLISHED SYSTEMS</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문헌은 평가 계약을 비교하는 맥락으로 사용한다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Class A matched external comparisons = 0  ·  No performance ranking</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09 / 12</a:t>
            </a:r>
          </a:p>
        </p:txBody>
      </p:sp>
      <p:sp>
        <p:nvSpPr>
          <p:cNvPr id="8" name="TextBox 7"/>
          <p:cNvSpPr txBox="1"/>
          <p:nvPr/>
        </p:nvSpPr>
        <p:spPr>
          <a:xfrm>
            <a:off x="731520" y="2148840"/>
            <a:ext cx="4754880" cy="411480"/>
          </a:xfrm>
          <a:prstGeom prst="rect">
            <a:avLst/>
          </a:prstGeom>
          <a:noFill/>
        </p:spPr>
        <p:txBody>
          <a:bodyPr wrap="square" lIns="0" rIns="0" tIns="0" bIns="0" anchor="t">
            <a:spAutoFit/>
          </a:bodyPr>
          <a:lstStyle/>
          <a:p>
            <a:pPr>
              <a:spcAft>
                <a:spcPts val="500"/>
              </a:spcAft>
            </a:pPr>
            <a:r>
              <a:rPr sz="2000" b="0">
                <a:solidFill>
                  <a:srgbClr val="1F1F1F"/>
                </a:solidFill>
                <a:latin typeface="Noto Sans CJK KR"/>
                <a:ea typeface="Noto Sans CJK KR"/>
              </a:rPr>
              <a:t>NavRL / NavRL++</a:t>
            </a:r>
          </a:p>
        </p:txBody>
      </p:sp>
      <p:sp>
        <p:nvSpPr>
          <p:cNvPr id="9" name="TextBox 8"/>
          <p:cNvSpPr txBox="1"/>
          <p:nvPr/>
        </p:nvSpPr>
        <p:spPr>
          <a:xfrm>
            <a:off x="5596128" y="2148840"/>
            <a:ext cx="5897880" cy="50292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Goal navigation; different task contract</a:t>
            </a:r>
          </a:p>
        </p:txBody>
      </p:sp>
      <p:cxnSp>
        <p:nvCxnSpPr>
          <p:cNvPr id="10" name="Connector 9"/>
          <p:cNvCxnSpPr/>
          <p:nvPr/>
        </p:nvCxnSpPr>
        <p:spPr>
          <a:xfrm>
            <a:off x="731520" y="2724912"/>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898648"/>
            <a:ext cx="4754880" cy="411480"/>
          </a:xfrm>
          <a:prstGeom prst="rect">
            <a:avLst/>
          </a:prstGeom>
          <a:noFill/>
        </p:spPr>
        <p:txBody>
          <a:bodyPr wrap="square" lIns="0" rIns="0" tIns="0" bIns="0" anchor="t">
            <a:spAutoFit/>
          </a:bodyPr>
          <a:lstStyle/>
          <a:p>
            <a:pPr>
              <a:spcAft>
                <a:spcPts val="500"/>
              </a:spcAft>
            </a:pPr>
            <a:r>
              <a:rPr sz="2000" b="0">
                <a:solidFill>
                  <a:srgbClr val="1F1F1F"/>
                </a:solidFill>
                <a:latin typeface="Noto Sans CJK KR"/>
                <a:ea typeface="Noto Sans CJK KR"/>
              </a:rPr>
              <a:t>Fast / Elastic / YOPOv2-Tracker</a:t>
            </a:r>
          </a:p>
        </p:txBody>
      </p:sp>
      <p:sp>
        <p:nvSpPr>
          <p:cNvPr id="12" name="TextBox 11"/>
          <p:cNvSpPr txBox="1"/>
          <p:nvPr/>
        </p:nvSpPr>
        <p:spPr>
          <a:xfrm>
            <a:off x="5596128" y="2898648"/>
            <a:ext cx="5897880" cy="50292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Tracking; different observations and outcomes</a:t>
            </a:r>
          </a:p>
        </p:txBody>
      </p:sp>
      <p:cxnSp>
        <p:nvCxnSpPr>
          <p:cNvPr id="13" name="Connector 12"/>
          <p:cNvCxnSpPr/>
          <p:nvPr/>
        </p:nvCxnSpPr>
        <p:spPr>
          <a:xfrm>
            <a:off x="731520" y="3474720"/>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648456"/>
            <a:ext cx="4754880" cy="411480"/>
          </a:xfrm>
          <a:prstGeom prst="rect">
            <a:avLst/>
          </a:prstGeom>
          <a:noFill/>
        </p:spPr>
        <p:txBody>
          <a:bodyPr wrap="square" lIns="0" rIns="0" tIns="0" bIns="0" anchor="t">
            <a:spAutoFit/>
          </a:bodyPr>
          <a:lstStyle/>
          <a:p>
            <a:pPr>
              <a:spcAft>
                <a:spcPts val="500"/>
              </a:spcAft>
            </a:pPr>
            <a:r>
              <a:rPr sz="2000" b="0">
                <a:solidFill>
                  <a:srgbClr val="1F1F1F"/>
                </a:solidFill>
                <a:latin typeface="Noto Sans CJK KR"/>
                <a:ea typeface="Noto Sans CJK KR"/>
              </a:rPr>
              <a:t>OPEN</a:t>
            </a:r>
          </a:p>
        </p:txBody>
      </p:sp>
      <p:sp>
        <p:nvSpPr>
          <p:cNvPr id="15" name="TextBox 14"/>
          <p:cNvSpPr txBox="1"/>
          <p:nvPr/>
        </p:nvSpPr>
        <p:spPr>
          <a:xfrm>
            <a:off x="5596128" y="3648456"/>
            <a:ext cx="5897880" cy="50292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Multiple pursuers; privileged state assumptions</a:t>
            </a:r>
          </a:p>
        </p:txBody>
      </p:sp>
      <p:cxnSp>
        <p:nvCxnSpPr>
          <p:cNvPr id="16" name="Connector 15"/>
          <p:cNvCxnSpPr/>
          <p:nvPr/>
        </p:nvCxnSpPr>
        <p:spPr>
          <a:xfrm>
            <a:off x="731520" y="4224528"/>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398264"/>
            <a:ext cx="4754880" cy="41148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MOTAR</a:t>
            </a:r>
          </a:p>
        </p:txBody>
      </p:sp>
      <p:sp>
        <p:nvSpPr>
          <p:cNvPr id="18" name="TextBox 17"/>
          <p:cNvSpPr txBox="1"/>
          <p:nvPr/>
        </p:nvSpPr>
        <p:spPr>
          <a:xfrm>
            <a:off x="5596128" y="4398264"/>
            <a:ext cx="5897880" cy="50292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Frozen-policy sensitivity; independent replication</a:t>
            </a:r>
          </a:p>
        </p:txBody>
      </p:sp>
      <p:cxnSp>
        <p:nvCxnSpPr>
          <p:cNvPr id="19" name="Connector 18"/>
          <p:cNvCxnSpPr/>
          <p:nvPr/>
        </p:nvCxnSpPr>
        <p:spPr>
          <a:xfrm>
            <a:off x="731520" y="4974336"/>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5504688"/>
            <a:ext cx="10789920" cy="274320"/>
          </a:xfrm>
          <a:prstGeom prst="rect">
            <a:avLst/>
          </a:prstGeom>
          <a:noFill/>
        </p:spPr>
        <p:txBody>
          <a:bodyPr wrap="square" lIns="0" rIns="0" tIns="0" bIns="0" anchor="t">
            <a:spAutoFit/>
          </a:bodyPr>
          <a:lstStyle/>
          <a:p>
            <a:pPr>
              <a:spcAft>
                <a:spcPts val="500"/>
              </a:spcAft>
            </a:pPr>
            <a:r>
              <a:rPr sz="1500" b="0">
                <a:solidFill>
                  <a:srgbClr val="626A73"/>
                </a:solidFill>
                <a:latin typeface="Noto Sans CJK KR"/>
                <a:ea typeface="Noto Sans CJK KR"/>
              </a:rPr>
              <a:t>Elastic Tracker: B0 environmental failure; not benchmarked.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09 / LIMITATIONS</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관측된 효과의 범위를 결론 안에 남긴다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No real flight  ·  No matched external benchmark  ·  No validated min-distance result</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10 / 12</a:t>
            </a:r>
          </a:p>
        </p:txBody>
      </p:sp>
      <p:sp>
        <p:nvSpPr>
          <p:cNvPr id="8" name="TextBox 7"/>
          <p:cNvSpPr txBox="1"/>
          <p:nvPr/>
        </p:nvSpPr>
        <p:spPr>
          <a:xfrm>
            <a:off x="731520" y="2103120"/>
            <a:ext cx="2331720" cy="41148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Scope</a:t>
            </a:r>
          </a:p>
        </p:txBody>
      </p:sp>
      <p:sp>
        <p:nvSpPr>
          <p:cNvPr id="9" name="TextBox 8"/>
          <p:cNvSpPr txBox="1"/>
          <p:nvPr/>
        </p:nvSpPr>
        <p:spPr>
          <a:xfrm>
            <a:off x="3154680" y="2103120"/>
            <a:ext cx="8229600" cy="457200"/>
          </a:xfrm>
          <a:prstGeom prst="rect">
            <a:avLst/>
          </a:prstGeom>
          <a:noFill/>
        </p:spPr>
        <p:txBody>
          <a:bodyPr wrap="square" lIns="0" rIns="0" tIns="0" bIns="0" anchor="t">
            <a:spAutoFit/>
          </a:bodyPr>
          <a:lstStyle/>
          <a:p>
            <a:pPr>
              <a:spcAft>
                <a:spcPts val="500"/>
              </a:spcAft>
            </a:pPr>
            <a:r>
              <a:rPr sz="1900" b="0">
                <a:solidFill>
                  <a:srgbClr val="1F1F1F"/>
                </a:solidFill>
                <a:latin typeface="Noto Sans CJK KR"/>
                <a:ea typeface="Noto Sans CJK KR"/>
              </a:rPr>
              <a:t>Simulation only / no real flight</a:t>
            </a:r>
          </a:p>
        </p:txBody>
      </p:sp>
      <p:cxnSp>
        <p:nvCxnSpPr>
          <p:cNvPr id="10" name="Connector 9"/>
          <p:cNvCxnSpPr/>
          <p:nvPr/>
        </p:nvCxnSpPr>
        <p:spPr>
          <a:xfrm>
            <a:off x="731520" y="2633472"/>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779776"/>
            <a:ext cx="2331720" cy="41148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Inference</a:t>
            </a:r>
          </a:p>
        </p:txBody>
      </p:sp>
      <p:sp>
        <p:nvSpPr>
          <p:cNvPr id="12" name="TextBox 11"/>
          <p:cNvSpPr txBox="1"/>
          <p:nvPr/>
        </p:nvSpPr>
        <p:spPr>
          <a:xfrm>
            <a:off x="3154680" y="2779776"/>
            <a:ext cx="8229600" cy="457200"/>
          </a:xfrm>
          <a:prstGeom prst="rect">
            <a:avLst/>
          </a:prstGeom>
          <a:noFill/>
        </p:spPr>
        <p:txBody>
          <a:bodyPr wrap="square" lIns="0" rIns="0" tIns="0" bIns="0" anchor="t">
            <a:spAutoFit/>
          </a:bodyPr>
          <a:lstStyle/>
          <a:p>
            <a:pPr>
              <a:spcAft>
                <a:spcPts val="500"/>
              </a:spcAft>
            </a:pPr>
            <a:r>
              <a:rPr sz="1900" b="0">
                <a:solidFill>
                  <a:srgbClr val="1F1F1F"/>
                </a:solidFill>
                <a:latin typeface="Noto Sans CJK KR"/>
                <a:ea typeface="Noto Sans CJK KR"/>
              </a:rPr>
              <a:t>7-seed resolution boundary / high-density E2 limit</a:t>
            </a:r>
          </a:p>
        </p:txBody>
      </p:sp>
      <p:cxnSp>
        <p:nvCxnSpPr>
          <p:cNvPr id="13" name="Connector 12"/>
          <p:cNvCxnSpPr/>
          <p:nvPr/>
        </p:nvCxnSpPr>
        <p:spPr>
          <a:xfrm>
            <a:off x="731520" y="3310128"/>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456432"/>
            <a:ext cx="2331720" cy="41148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Mechanism</a:t>
            </a:r>
          </a:p>
        </p:txBody>
      </p:sp>
      <p:sp>
        <p:nvSpPr>
          <p:cNvPr id="15" name="TextBox 14"/>
          <p:cNvSpPr txBox="1"/>
          <p:nvPr/>
        </p:nvSpPr>
        <p:spPr>
          <a:xfrm>
            <a:off x="3154680" y="3456432"/>
            <a:ext cx="8229600" cy="457200"/>
          </a:xfrm>
          <a:prstGeom prst="rect">
            <a:avLst/>
          </a:prstGeom>
          <a:noFill/>
        </p:spPr>
        <p:txBody>
          <a:bodyPr wrap="square" lIns="0" rIns="0" tIns="0" bIns="0" anchor="t">
            <a:spAutoFit/>
          </a:bodyPr>
          <a:lstStyle/>
          <a:p>
            <a:pPr>
              <a:spcAft>
                <a:spcPts val="500"/>
              </a:spcAft>
            </a:pPr>
            <a:r>
              <a:rPr sz="1900" b="0">
                <a:solidFill>
                  <a:srgbClr val="1F1F1F"/>
                </a:solidFill>
                <a:latin typeface="Noto Sans CJK KR"/>
                <a:ea typeface="Noto Sans CJK KR"/>
              </a:rPr>
              <a:t>D8b NOT_TESTED / P10 INCONCLUSIVE</a:t>
            </a:r>
          </a:p>
        </p:txBody>
      </p:sp>
      <p:cxnSp>
        <p:nvCxnSpPr>
          <p:cNvPr id="16" name="Connector 15"/>
          <p:cNvCxnSpPr/>
          <p:nvPr/>
        </p:nvCxnSpPr>
        <p:spPr>
          <a:xfrm>
            <a:off x="731520" y="3986783"/>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133087"/>
            <a:ext cx="2331720" cy="41148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Measurement</a:t>
            </a:r>
          </a:p>
        </p:txBody>
      </p:sp>
      <p:sp>
        <p:nvSpPr>
          <p:cNvPr id="18" name="TextBox 17"/>
          <p:cNvSpPr txBox="1"/>
          <p:nvPr/>
        </p:nvSpPr>
        <p:spPr>
          <a:xfrm>
            <a:off x="3154680" y="4133087"/>
            <a:ext cx="8229600" cy="457200"/>
          </a:xfrm>
          <a:prstGeom prst="rect">
            <a:avLst/>
          </a:prstGeom>
          <a:noFill/>
        </p:spPr>
        <p:txBody>
          <a:bodyPr wrap="square" lIns="0" rIns="0" tIns="0" bIns="0" anchor="t">
            <a:spAutoFit/>
          </a:bodyPr>
          <a:lstStyle/>
          <a:p>
            <a:pPr>
              <a:spcAft>
                <a:spcPts val="500"/>
              </a:spcAft>
            </a:pPr>
            <a:r>
              <a:rPr sz="1900" b="0">
                <a:solidFill>
                  <a:srgbClr val="1F1F1F"/>
                </a:solidFill>
                <a:latin typeface="Noto Sans CJK KR"/>
                <a:ea typeface="Noto Sans CJK KR"/>
              </a:rPr>
              <a:t>Min-distance WITHHELD_SEMANTIC_MISMATCH</a:t>
            </a:r>
          </a:p>
        </p:txBody>
      </p:sp>
      <p:cxnSp>
        <p:nvCxnSpPr>
          <p:cNvPr id="19" name="Connector 18"/>
          <p:cNvCxnSpPr/>
          <p:nvPr/>
        </p:nvCxnSpPr>
        <p:spPr>
          <a:xfrm>
            <a:off x="731520" y="4663440"/>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4809744"/>
            <a:ext cx="2331720" cy="411480"/>
          </a:xfrm>
          <a:prstGeom prst="rect">
            <a:avLst/>
          </a:prstGeom>
          <a:noFill/>
        </p:spPr>
        <p:txBody>
          <a:bodyPr wrap="square" lIns="0" rIns="0" tIns="0" bIns="0" anchor="t">
            <a:spAutoFit/>
          </a:bodyPr>
          <a:lstStyle/>
          <a:p>
            <a:pPr>
              <a:spcAft>
                <a:spcPts val="500"/>
              </a:spcAft>
            </a:pPr>
            <a:r>
              <a:rPr sz="2000" b="1">
                <a:solidFill>
                  <a:srgbClr val="2F6599"/>
                </a:solidFill>
                <a:latin typeface="Noto Sans CJK KR"/>
                <a:ea typeface="Noto Sans CJK KR"/>
              </a:rPr>
              <a:t>Access</a:t>
            </a:r>
          </a:p>
        </p:txBody>
      </p:sp>
      <p:sp>
        <p:nvSpPr>
          <p:cNvPr id="21" name="TextBox 20"/>
          <p:cNvSpPr txBox="1"/>
          <p:nvPr/>
        </p:nvSpPr>
        <p:spPr>
          <a:xfrm>
            <a:off x="3154680" y="4809744"/>
            <a:ext cx="8229600" cy="457200"/>
          </a:xfrm>
          <a:prstGeom prst="rect">
            <a:avLst/>
          </a:prstGeom>
          <a:noFill/>
        </p:spPr>
        <p:txBody>
          <a:bodyPr wrap="square" lIns="0" rIns="0" tIns="0" bIns="0" anchor="t">
            <a:spAutoFit/>
          </a:bodyPr>
          <a:lstStyle/>
          <a:p>
            <a:pPr>
              <a:spcAft>
                <a:spcPts val="500"/>
              </a:spcAft>
            </a:pPr>
            <a:r>
              <a:rPr sz="1900" b="0">
                <a:solidFill>
                  <a:srgbClr val="1F1F1F"/>
                </a:solidFill>
                <a:latin typeface="Noto Sans CJK KR"/>
                <a:ea typeface="Noto Sans CJK KR"/>
              </a:rPr>
              <a:t>Raw evidence outside Git / no public archive download</a:t>
            </a:r>
          </a:p>
        </p:txBody>
      </p:sp>
      <p:cxnSp>
        <p:nvCxnSpPr>
          <p:cNvPr id="22" name="Connector 21"/>
          <p:cNvCxnSpPr/>
          <p:nvPr/>
        </p:nvCxnSpPr>
        <p:spPr>
          <a:xfrm>
            <a:off x="731520" y="5340096"/>
            <a:ext cx="1065276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10 / WHAT IS READY FOR PAPER</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원본 결과와 교정 과정을 보존한 논문 패키지를 만들었다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Current evidence: n = 7  ·  Historical n = 3 remains separate and unpooled</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11 / 12</a:t>
            </a:r>
          </a:p>
        </p:txBody>
      </p:sp>
      <p:sp>
        <p:nvSpPr>
          <p:cNvPr id="8" name="Oval 7"/>
          <p:cNvSpPr/>
          <p:nvPr/>
        </p:nvSpPr>
        <p:spPr>
          <a:xfrm>
            <a:off x="763524" y="2683764"/>
            <a:ext cx="155448" cy="155448"/>
          </a:xfrm>
          <a:prstGeom prst="ellipse">
            <a:avLst/>
          </a:prstGeom>
          <a:solidFill>
            <a:srgbClr val="2F6599"/>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960120" y="2761488"/>
            <a:ext cx="3566160" cy="0"/>
          </a:xfrm>
          <a:prstGeom prst="line">
            <a:avLst/>
          </a:prstGeom>
          <a:ln w="12700">
            <a:solidFill>
              <a:srgbClr val="2F659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2148840"/>
            <a:ext cx="3566160" cy="365760"/>
          </a:xfrm>
          <a:prstGeom prst="rect">
            <a:avLst/>
          </a:prstGeom>
          <a:noFill/>
        </p:spPr>
        <p:txBody>
          <a:bodyPr wrap="square" lIns="0" rIns="0" tIns="0" bIns="0" anchor="t">
            <a:spAutoFit/>
          </a:bodyPr>
          <a:lstStyle/>
          <a:p>
            <a:pPr>
              <a:spcAft>
                <a:spcPts val="500"/>
              </a:spcAft>
            </a:pPr>
            <a:r>
              <a:rPr sz="1500" b="1">
                <a:solidFill>
                  <a:srgbClr val="2F6599"/>
                </a:solidFill>
                <a:latin typeface="Noto Sans CJK KR"/>
                <a:ea typeface="Noto Sans CJK KR"/>
              </a:rPr>
              <a:t>18 SEP</a:t>
            </a:r>
          </a:p>
        </p:txBody>
      </p:sp>
      <p:sp>
        <p:nvSpPr>
          <p:cNvPr id="11" name="TextBox 10"/>
          <p:cNvSpPr txBox="1"/>
          <p:nvPr/>
        </p:nvSpPr>
        <p:spPr>
          <a:xfrm>
            <a:off x="731520" y="3172968"/>
            <a:ext cx="3493008" cy="640080"/>
          </a:xfrm>
          <a:prstGeom prst="rect">
            <a:avLst/>
          </a:prstGeom>
          <a:noFill/>
        </p:spPr>
        <p:txBody>
          <a:bodyPr wrap="square" lIns="0" rIns="0" tIns="0" bIns="0" anchor="t">
            <a:spAutoFit/>
          </a:bodyPr>
          <a:lstStyle/>
          <a:p>
            <a:pPr>
              <a:spcAft>
                <a:spcPts val="500"/>
              </a:spcAft>
            </a:pPr>
            <a:r>
              <a:rPr sz="2300" b="1">
                <a:solidFill>
                  <a:srgbClr val="1F1F1F"/>
                </a:solidFill>
                <a:latin typeface="Noto Sans CJK KR"/>
                <a:ea typeface="Noto Sans CJK KR"/>
              </a:rPr>
              <a:t>Original / n = 3</a:t>
            </a:r>
          </a:p>
        </p:txBody>
      </p:sp>
      <p:sp>
        <p:nvSpPr>
          <p:cNvPr id="12" name="TextBox 11"/>
          <p:cNvSpPr txBox="1"/>
          <p:nvPr/>
        </p:nvSpPr>
        <p:spPr>
          <a:xfrm>
            <a:off x="731520" y="4114800"/>
            <a:ext cx="3520440" cy="100584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Legacy pooled window</a:t>
            </a:r>
          </a:p>
          <a:p>
            <a:pPr>
              <a:spcAft>
                <a:spcPts val="500"/>
              </a:spcAft>
            </a:pPr>
            <a:r>
              <a:rPr sz="1800" b="0">
                <a:solidFill>
                  <a:srgbClr val="626A73"/>
                </a:solidFill>
                <a:latin typeface="Noto Sans CJK KR"/>
                <a:ea typeface="Noto Sans CJK KR"/>
              </a:rPr>
              <a:t>Preserved historical evidence</a:t>
            </a:r>
          </a:p>
        </p:txBody>
      </p:sp>
      <p:sp>
        <p:nvSpPr>
          <p:cNvPr id="13" name="Oval 12"/>
          <p:cNvSpPr/>
          <p:nvPr/>
        </p:nvSpPr>
        <p:spPr>
          <a:xfrm>
            <a:off x="4567428" y="2683764"/>
            <a:ext cx="155448" cy="155448"/>
          </a:xfrm>
          <a:prstGeom prst="ellipse">
            <a:avLst/>
          </a:prstGeom>
          <a:solidFill>
            <a:srgbClr val="2F6599"/>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764024" y="2761488"/>
            <a:ext cx="3566159" cy="0"/>
          </a:xfrm>
          <a:prstGeom prst="line">
            <a:avLst/>
          </a:prstGeom>
          <a:ln w="12700">
            <a:solidFill>
              <a:srgbClr val="2F659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35424" y="2148840"/>
            <a:ext cx="3566160" cy="365760"/>
          </a:xfrm>
          <a:prstGeom prst="rect">
            <a:avLst/>
          </a:prstGeom>
          <a:noFill/>
        </p:spPr>
        <p:txBody>
          <a:bodyPr wrap="square" lIns="0" rIns="0" tIns="0" bIns="0" anchor="t">
            <a:spAutoFit/>
          </a:bodyPr>
          <a:lstStyle/>
          <a:p>
            <a:pPr>
              <a:spcAft>
                <a:spcPts val="500"/>
              </a:spcAft>
            </a:pPr>
            <a:r>
              <a:rPr sz="1500" b="1">
                <a:solidFill>
                  <a:srgbClr val="2F6599"/>
                </a:solidFill>
                <a:latin typeface="Noto Sans CJK KR"/>
                <a:ea typeface="Noto Sans CJK KR"/>
              </a:rPr>
              <a:t>AUDIT</a:t>
            </a:r>
          </a:p>
        </p:txBody>
      </p:sp>
      <p:sp>
        <p:nvSpPr>
          <p:cNvPr id="16" name="TextBox 15"/>
          <p:cNvSpPr txBox="1"/>
          <p:nvPr/>
        </p:nvSpPr>
        <p:spPr>
          <a:xfrm>
            <a:off x="4535424" y="3172968"/>
            <a:ext cx="3493008" cy="640080"/>
          </a:xfrm>
          <a:prstGeom prst="rect">
            <a:avLst/>
          </a:prstGeom>
          <a:noFill/>
        </p:spPr>
        <p:txBody>
          <a:bodyPr wrap="square" lIns="0" rIns="0" tIns="0" bIns="0" anchor="t">
            <a:spAutoFit/>
          </a:bodyPr>
          <a:lstStyle/>
          <a:p>
            <a:pPr>
              <a:spcAft>
                <a:spcPts val="500"/>
              </a:spcAft>
            </a:pPr>
            <a:r>
              <a:rPr sz="2300" b="1">
                <a:solidFill>
                  <a:srgbClr val="1F1F1F"/>
                </a:solidFill>
                <a:latin typeface="Noto Sans CJK KR"/>
                <a:ea typeface="Noto Sans CJK KR"/>
              </a:rPr>
              <a:t>Bias diagnosis + canary</a:t>
            </a:r>
          </a:p>
        </p:txBody>
      </p:sp>
      <p:sp>
        <p:nvSpPr>
          <p:cNvPr id="17" name="TextBox 16"/>
          <p:cNvSpPr txBox="1"/>
          <p:nvPr/>
        </p:nvSpPr>
        <p:spPr>
          <a:xfrm>
            <a:off x="4535424" y="4114800"/>
            <a:ext cx="3520440" cy="100584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Instrumentation validation</a:t>
            </a:r>
          </a:p>
          <a:p>
            <a:pPr>
              <a:spcAft>
                <a:spcPts val="500"/>
              </a:spcAft>
            </a:pPr>
            <a:r>
              <a:rPr sz="1800" b="0">
                <a:solidFill>
                  <a:srgbClr val="626A73"/>
                </a:solidFill>
                <a:latin typeface="Noto Sans CJK KR"/>
                <a:ea typeface="Noto Sans CJK KR"/>
              </a:rPr>
              <a:t>Not scientific replication</a:t>
            </a:r>
          </a:p>
        </p:txBody>
      </p:sp>
      <p:sp>
        <p:nvSpPr>
          <p:cNvPr id="18" name="Oval 17"/>
          <p:cNvSpPr/>
          <p:nvPr/>
        </p:nvSpPr>
        <p:spPr>
          <a:xfrm>
            <a:off x="8371331" y="2683764"/>
            <a:ext cx="155448" cy="155448"/>
          </a:xfrm>
          <a:prstGeom prst="ellipse">
            <a:avLst/>
          </a:prstGeom>
          <a:solidFill>
            <a:srgbClr val="2F6599"/>
          </a:solidFill>
          <a:ln w="12700">
            <a:solidFill>
              <a:srgbClr val="2F6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8" y="2148840"/>
            <a:ext cx="3566160" cy="365760"/>
          </a:xfrm>
          <a:prstGeom prst="rect">
            <a:avLst/>
          </a:prstGeom>
          <a:noFill/>
        </p:spPr>
        <p:txBody>
          <a:bodyPr wrap="square" lIns="0" rIns="0" tIns="0" bIns="0" anchor="t">
            <a:spAutoFit/>
          </a:bodyPr>
          <a:lstStyle/>
          <a:p>
            <a:pPr>
              <a:spcAft>
                <a:spcPts val="500"/>
              </a:spcAft>
            </a:pPr>
            <a:r>
              <a:rPr sz="1500" b="1">
                <a:solidFill>
                  <a:srgbClr val="2F6599"/>
                </a:solidFill>
                <a:latin typeface="Noto Sans CJK KR"/>
                <a:ea typeface="Noto Sans CJK KR"/>
              </a:rPr>
              <a:t>25–26 SEP</a:t>
            </a:r>
          </a:p>
        </p:txBody>
      </p:sp>
      <p:sp>
        <p:nvSpPr>
          <p:cNvPr id="20" name="TextBox 19"/>
          <p:cNvSpPr txBox="1"/>
          <p:nvPr/>
        </p:nvSpPr>
        <p:spPr>
          <a:xfrm>
            <a:off x="8339328" y="3172968"/>
            <a:ext cx="3493008" cy="640080"/>
          </a:xfrm>
          <a:prstGeom prst="rect">
            <a:avLst/>
          </a:prstGeom>
          <a:noFill/>
        </p:spPr>
        <p:txBody>
          <a:bodyPr wrap="square" lIns="0" rIns="0" tIns="0" bIns="0" anchor="t">
            <a:spAutoFit/>
          </a:bodyPr>
          <a:lstStyle/>
          <a:p>
            <a:pPr>
              <a:spcAft>
                <a:spcPts val="500"/>
              </a:spcAft>
            </a:pPr>
            <a:r>
              <a:rPr sz="2300" b="1">
                <a:solidFill>
                  <a:srgbClr val="1F1F1F"/>
                </a:solidFill>
                <a:latin typeface="Noto Sans CJK KR"/>
                <a:ea typeface="Noto Sans CJK KR"/>
              </a:rPr>
              <a:t>Replication / n = 7</a:t>
            </a:r>
          </a:p>
        </p:txBody>
      </p:sp>
      <p:sp>
        <p:nvSpPr>
          <p:cNvPr id="21" name="TextBox 20"/>
          <p:cNvSpPr txBox="1"/>
          <p:nvPr/>
        </p:nvSpPr>
        <p:spPr>
          <a:xfrm>
            <a:off x="8339328" y="4114800"/>
            <a:ext cx="3520440" cy="100584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Per-environment quota</a:t>
            </a:r>
          </a:p>
          <a:p>
            <a:pPr>
              <a:spcAft>
                <a:spcPts val="500"/>
              </a:spcAft>
            </a:pPr>
            <a:r>
              <a:rPr sz="1800" b="0">
                <a:solidFill>
                  <a:srgbClr val="626A73"/>
                </a:solidFill>
                <a:latin typeface="Noto Sans CJK KR"/>
                <a:ea typeface="Noto Sans CJK KR"/>
              </a:rPr>
              <a:t>Current confirmatory evidence</a:t>
            </a:r>
          </a:p>
        </p:txBody>
      </p:sp>
      <p:sp>
        <p:nvSpPr>
          <p:cNvPr id="22" name="TextBox 21"/>
          <p:cNvSpPr txBox="1"/>
          <p:nvPr/>
        </p:nvSpPr>
        <p:spPr>
          <a:xfrm>
            <a:off x="731520" y="5330952"/>
            <a:ext cx="10789920" cy="365760"/>
          </a:xfrm>
          <a:prstGeom prst="rect">
            <a:avLst/>
          </a:prstGeom>
          <a:noFill/>
        </p:spPr>
        <p:txBody>
          <a:bodyPr wrap="square" lIns="0" rIns="0" tIns="0" bIns="0" anchor="t">
            <a:spAutoFit/>
          </a:bodyPr>
          <a:lstStyle/>
          <a:p>
            <a:pPr>
              <a:spcAft>
                <a:spcPts val="500"/>
              </a:spcAft>
            </a:pPr>
            <a:r>
              <a:rPr sz="2000" b="0">
                <a:solidFill>
                  <a:srgbClr val="1F1F1F"/>
                </a:solidFill>
                <a:latin typeface="Noto Sans CJK KR"/>
                <a:ea typeface="Noto Sans CJK KR"/>
              </a:rPr>
              <a:t>Paper draft + 6 figures + 12-slide deck + source-bound public checks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7"/>
        </a:solidFill>
        <a:effectLst/>
      </p:bgPr>
    </p:bg>
    <p:spTree>
      <p:nvGrpSpPr>
        <p:cNvPr id="1" name=""/>
        <p:cNvGrpSpPr/>
        <p:nvPr/>
      </p:nvGrpSpPr>
      <p:grpSpPr/>
      <p:sp>
        <p:nvSpPr>
          <p:cNvPr id="2" name="TextBox 1"/>
          <p:cNvSpPr txBox="1"/>
          <p:nvPr/>
        </p:nvSpPr>
        <p:spPr>
          <a:xfrm>
            <a:off x="566928" y="292608"/>
            <a:ext cx="10789920" cy="274320"/>
          </a:xfrm>
          <a:prstGeom prst="rect">
            <a:avLst/>
          </a:prstGeom>
          <a:noFill/>
        </p:spPr>
        <p:txBody>
          <a:bodyPr wrap="square" lIns="0" rIns="0" tIns="0" bIns="0" anchor="t">
            <a:spAutoFit/>
          </a:bodyPr>
          <a:lstStyle/>
          <a:p>
            <a:pPr>
              <a:spcAft>
                <a:spcPts val="500"/>
              </a:spcAft>
            </a:pPr>
            <a:r>
              <a:rPr sz="1100" b="1">
                <a:solidFill>
                  <a:srgbClr val="2F6599"/>
                </a:solidFill>
                <a:latin typeface="Noto Sans CJK KR"/>
                <a:ea typeface="Noto Sans CJK KR"/>
              </a:rPr>
              <a:t>11 / NEXT STEPS · EDITORIAL WORK ONLY</a:t>
            </a:r>
          </a:p>
        </p:txBody>
      </p:sp>
      <p:sp>
        <p:nvSpPr>
          <p:cNvPr id="3" name="TextBox 2"/>
          <p:cNvSpPr txBox="1"/>
          <p:nvPr/>
        </p:nvSpPr>
        <p:spPr>
          <a:xfrm>
            <a:off x="566928" y="841248"/>
            <a:ext cx="11018520" cy="1005840"/>
          </a:xfrm>
          <a:prstGeom prst="rect">
            <a:avLst/>
          </a:prstGeom>
          <a:noFill/>
        </p:spPr>
        <p:txBody>
          <a:bodyPr wrap="square" lIns="0" rIns="0" tIns="0" bIns="0" anchor="t">
            <a:spAutoFit/>
          </a:bodyPr>
          <a:lstStyle/>
          <a:p>
            <a:pPr>
              <a:spcAft>
                <a:spcPts val="500"/>
              </a:spcAft>
            </a:pPr>
            <a:r>
              <a:rPr sz="2900" b="1">
                <a:solidFill>
                  <a:srgbClr val="1F1F1F"/>
                </a:solidFill>
                <a:latin typeface="Noto Sans CJK KR"/>
                <a:ea typeface="Noto Sans CJK KR"/>
              </a:rPr>
              <a:t>남은 작업은 문헌·서식·전체 diff 검토다</a:t>
            </a:r>
          </a:p>
        </p:txBody>
      </p:sp>
      <p:cxnSp>
        <p:nvCxnSpPr>
          <p:cNvPr id="4" name="Connector 3"/>
          <p:cNvCxnSpPr/>
          <p:nvPr/>
        </p:nvCxnSpPr>
        <p:spPr>
          <a:xfrm>
            <a:off x="566928" y="5971032"/>
            <a:ext cx="11045952"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6928" y="6117336"/>
            <a:ext cx="10972800" cy="329184"/>
          </a:xfrm>
          <a:prstGeom prst="rect">
            <a:avLst/>
          </a:prstGeom>
          <a:noFill/>
        </p:spPr>
        <p:txBody>
          <a:bodyPr wrap="square" lIns="0" rIns="0" tIns="0" bIns="0" anchor="t">
            <a:spAutoFit/>
          </a:bodyPr>
          <a:lstStyle/>
          <a:p>
            <a:pPr>
              <a:spcAft>
                <a:spcPts val="500"/>
              </a:spcAft>
            </a:pPr>
            <a:r>
              <a:rPr sz="1400" b="1">
                <a:solidFill>
                  <a:srgbClr val="2F6599"/>
                </a:solidFill>
                <a:latin typeface="Noto Sans CJK KR"/>
                <a:ea typeface="Noto Sans CJK KR"/>
              </a:rPr>
              <a:t>Experimental programme closed  ·  No new training, seeds or GPU evaluation</a:t>
            </a:r>
          </a:p>
        </p:txBody>
      </p:sp>
      <p:sp>
        <p:nvSpPr>
          <p:cNvPr id="6" name="TextBox 5"/>
          <p:cNvSpPr txBox="1"/>
          <p:nvPr/>
        </p:nvSpPr>
        <p:spPr>
          <a:xfrm>
            <a:off x="566928" y="6528816"/>
            <a:ext cx="10698480" cy="182880"/>
          </a:xfrm>
          <a:prstGeom prst="rect">
            <a:avLst/>
          </a:prstGeom>
          <a:noFill/>
        </p:spPr>
        <p:txBody>
          <a:bodyPr wrap="square" lIns="0" rIns="0" tIns="0" bIns="0" anchor="t">
            <a:spAutoFit/>
          </a:bodyPr>
          <a:lstStyle/>
          <a:p>
            <a:pPr>
              <a:spcAft>
                <a:spcPts val="500"/>
              </a:spcAft>
            </a:pPr>
            <a:r>
              <a:rPr sz="900" b="0">
                <a:solidFill>
                  <a:srgbClr val="626A73"/>
                </a:solidFill>
                <a:latin typeface="Noto Sans CJK KR"/>
                <a:ea typeface="Noto Sans CJK KR"/>
              </a:rPr>
              <a:t>MOTAR  /  Research draft  /  26 September 2026  /  Simulation only</a:t>
            </a:r>
          </a:p>
        </p:txBody>
      </p:sp>
      <p:sp>
        <p:nvSpPr>
          <p:cNvPr id="7" name="TextBox 6"/>
          <p:cNvSpPr txBox="1"/>
          <p:nvPr/>
        </p:nvSpPr>
        <p:spPr>
          <a:xfrm>
            <a:off x="11018520" y="6492240"/>
            <a:ext cx="594360" cy="228600"/>
          </a:xfrm>
          <a:prstGeom prst="rect">
            <a:avLst/>
          </a:prstGeom>
          <a:noFill/>
        </p:spPr>
        <p:txBody>
          <a:bodyPr wrap="square" lIns="0" rIns="0" tIns="0" bIns="0" anchor="t">
            <a:spAutoFit/>
          </a:bodyPr>
          <a:lstStyle/>
          <a:p>
            <a:pPr algn="r">
              <a:spcAft>
                <a:spcPts val="500"/>
              </a:spcAft>
            </a:pPr>
            <a:r>
              <a:rPr sz="900" b="0">
                <a:solidFill>
                  <a:srgbClr val="626A73"/>
                </a:solidFill>
                <a:latin typeface="Noto Sans CJK KR"/>
                <a:ea typeface="Noto Sans CJK KR"/>
              </a:rPr>
              <a:t>12 / 12</a:t>
            </a:r>
          </a:p>
        </p:txBody>
      </p:sp>
      <p:sp>
        <p:nvSpPr>
          <p:cNvPr id="8" name="TextBox 7"/>
          <p:cNvSpPr txBox="1"/>
          <p:nvPr/>
        </p:nvSpPr>
        <p:spPr>
          <a:xfrm>
            <a:off x="731520" y="2103120"/>
            <a:ext cx="914400" cy="566928"/>
          </a:xfrm>
          <a:prstGeom prst="rect">
            <a:avLst/>
          </a:prstGeom>
          <a:noFill/>
        </p:spPr>
        <p:txBody>
          <a:bodyPr wrap="square" lIns="0" rIns="0" tIns="0" bIns="0" anchor="t">
            <a:spAutoFit/>
          </a:bodyPr>
          <a:lstStyle/>
          <a:p>
            <a:pPr>
              <a:spcAft>
                <a:spcPts val="500"/>
              </a:spcAft>
            </a:pPr>
            <a:r>
              <a:rPr sz="3300" b="1">
                <a:solidFill>
                  <a:srgbClr val="2F6599"/>
                </a:solidFill>
                <a:latin typeface="Noto Sans CJK KR"/>
                <a:ea typeface="Noto Sans CJK KR"/>
              </a:rPr>
              <a:t>01</a:t>
            </a:r>
          </a:p>
        </p:txBody>
      </p:sp>
      <p:sp>
        <p:nvSpPr>
          <p:cNvPr id="9" name="TextBox 8"/>
          <p:cNvSpPr txBox="1"/>
          <p:nvPr/>
        </p:nvSpPr>
        <p:spPr>
          <a:xfrm>
            <a:off x="1920240" y="2103120"/>
            <a:ext cx="4480560" cy="438912"/>
          </a:xfrm>
          <a:prstGeom prst="rect">
            <a:avLst/>
          </a:prstGeom>
          <a:noFill/>
        </p:spPr>
        <p:txBody>
          <a:bodyPr wrap="square" lIns="0" rIns="0" tIns="0" bIns="0" anchor="t">
            <a:spAutoFit/>
          </a:bodyPr>
          <a:lstStyle/>
          <a:p>
            <a:pPr>
              <a:spcAft>
                <a:spcPts val="500"/>
              </a:spcAft>
            </a:pPr>
            <a:r>
              <a:rPr sz="2400" b="1">
                <a:solidFill>
                  <a:srgbClr val="1F1F1F"/>
                </a:solidFill>
                <a:latin typeface="Noto Sans CJK KR"/>
                <a:ea typeface="Noto Sans CJK KR"/>
              </a:rPr>
              <a:t>Verify references</a:t>
            </a:r>
          </a:p>
        </p:txBody>
      </p:sp>
      <p:sp>
        <p:nvSpPr>
          <p:cNvPr id="10" name="TextBox 9"/>
          <p:cNvSpPr txBox="1"/>
          <p:nvPr/>
        </p:nvSpPr>
        <p:spPr>
          <a:xfrm>
            <a:off x="6766560" y="2157984"/>
            <a:ext cx="4663440" cy="73152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Primary citations + author metadata</a:t>
            </a:r>
          </a:p>
        </p:txBody>
      </p:sp>
      <p:cxnSp>
        <p:nvCxnSpPr>
          <p:cNvPr id="11" name="Connector 10"/>
          <p:cNvCxnSpPr/>
          <p:nvPr/>
        </p:nvCxnSpPr>
        <p:spPr>
          <a:xfrm>
            <a:off x="1920240" y="2880360"/>
            <a:ext cx="946404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3182111"/>
            <a:ext cx="914400" cy="566928"/>
          </a:xfrm>
          <a:prstGeom prst="rect">
            <a:avLst/>
          </a:prstGeom>
          <a:noFill/>
        </p:spPr>
        <p:txBody>
          <a:bodyPr wrap="square" lIns="0" rIns="0" tIns="0" bIns="0" anchor="t">
            <a:spAutoFit/>
          </a:bodyPr>
          <a:lstStyle/>
          <a:p>
            <a:pPr>
              <a:spcAft>
                <a:spcPts val="500"/>
              </a:spcAft>
            </a:pPr>
            <a:r>
              <a:rPr sz="3300" b="1">
                <a:solidFill>
                  <a:srgbClr val="2F6599"/>
                </a:solidFill>
                <a:latin typeface="Noto Sans CJK KR"/>
                <a:ea typeface="Noto Sans CJK KR"/>
              </a:rPr>
              <a:t>02</a:t>
            </a:r>
          </a:p>
        </p:txBody>
      </p:sp>
      <p:sp>
        <p:nvSpPr>
          <p:cNvPr id="13" name="TextBox 12"/>
          <p:cNvSpPr txBox="1"/>
          <p:nvPr/>
        </p:nvSpPr>
        <p:spPr>
          <a:xfrm>
            <a:off x="1920240" y="3182111"/>
            <a:ext cx="4480560" cy="438912"/>
          </a:xfrm>
          <a:prstGeom prst="rect">
            <a:avLst/>
          </a:prstGeom>
          <a:noFill/>
        </p:spPr>
        <p:txBody>
          <a:bodyPr wrap="square" lIns="0" rIns="0" tIns="0" bIns="0" anchor="t">
            <a:spAutoFit/>
          </a:bodyPr>
          <a:lstStyle/>
          <a:p>
            <a:pPr>
              <a:spcAft>
                <a:spcPts val="500"/>
              </a:spcAft>
            </a:pPr>
            <a:r>
              <a:rPr sz="2400" b="1">
                <a:solidFill>
                  <a:srgbClr val="1F1F1F"/>
                </a:solidFill>
                <a:latin typeface="Noto Sans CJK KR"/>
                <a:ea typeface="Noto Sans CJK KR"/>
              </a:rPr>
              <a:t>Format the manuscript</a:t>
            </a:r>
          </a:p>
        </p:txBody>
      </p:sp>
      <p:sp>
        <p:nvSpPr>
          <p:cNvPr id="14" name="TextBox 13"/>
          <p:cNvSpPr txBox="1"/>
          <p:nvPr/>
        </p:nvSpPr>
        <p:spPr>
          <a:xfrm>
            <a:off x="6766560" y="3236975"/>
            <a:ext cx="4663440" cy="73152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Venue template + figures + tables</a:t>
            </a:r>
          </a:p>
        </p:txBody>
      </p:sp>
      <p:cxnSp>
        <p:nvCxnSpPr>
          <p:cNvPr id="15" name="Connector 14"/>
          <p:cNvCxnSpPr/>
          <p:nvPr/>
        </p:nvCxnSpPr>
        <p:spPr>
          <a:xfrm>
            <a:off x="1920240" y="3959351"/>
            <a:ext cx="946404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4261104"/>
            <a:ext cx="914400" cy="566928"/>
          </a:xfrm>
          <a:prstGeom prst="rect">
            <a:avLst/>
          </a:prstGeom>
          <a:noFill/>
        </p:spPr>
        <p:txBody>
          <a:bodyPr wrap="square" lIns="0" rIns="0" tIns="0" bIns="0" anchor="t">
            <a:spAutoFit/>
          </a:bodyPr>
          <a:lstStyle/>
          <a:p>
            <a:pPr>
              <a:spcAft>
                <a:spcPts val="500"/>
              </a:spcAft>
            </a:pPr>
            <a:r>
              <a:rPr sz="3300" b="1">
                <a:solidFill>
                  <a:srgbClr val="2F6599"/>
                </a:solidFill>
                <a:latin typeface="Noto Sans CJK KR"/>
                <a:ea typeface="Noto Sans CJK KR"/>
              </a:rPr>
              <a:t>03</a:t>
            </a:r>
          </a:p>
        </p:txBody>
      </p:sp>
      <p:sp>
        <p:nvSpPr>
          <p:cNvPr id="17" name="TextBox 16"/>
          <p:cNvSpPr txBox="1"/>
          <p:nvPr/>
        </p:nvSpPr>
        <p:spPr>
          <a:xfrm>
            <a:off x="1920240" y="4261104"/>
            <a:ext cx="4480560" cy="438912"/>
          </a:xfrm>
          <a:prstGeom prst="rect">
            <a:avLst/>
          </a:prstGeom>
          <a:noFill/>
        </p:spPr>
        <p:txBody>
          <a:bodyPr wrap="square" lIns="0" rIns="0" tIns="0" bIns="0" anchor="t">
            <a:spAutoFit/>
          </a:bodyPr>
          <a:lstStyle/>
          <a:p>
            <a:pPr>
              <a:spcAft>
                <a:spcPts val="500"/>
              </a:spcAft>
            </a:pPr>
            <a:r>
              <a:rPr sz="2400" b="1">
                <a:solidFill>
                  <a:srgbClr val="1F1F1F"/>
                </a:solidFill>
                <a:latin typeface="Noto Sans CJK KR"/>
                <a:ea typeface="Noto Sans CJK KR"/>
              </a:rPr>
              <a:t>Review the full diff</a:t>
            </a:r>
          </a:p>
        </p:txBody>
      </p:sp>
      <p:sp>
        <p:nvSpPr>
          <p:cNvPr id="18" name="TextBox 17"/>
          <p:cNvSpPr txBox="1"/>
          <p:nvPr/>
        </p:nvSpPr>
        <p:spPr>
          <a:xfrm>
            <a:off x="6766560" y="4315968"/>
            <a:ext cx="4663440" cy="731520"/>
          </a:xfrm>
          <a:prstGeom prst="rect">
            <a:avLst/>
          </a:prstGeom>
          <a:noFill/>
        </p:spPr>
        <p:txBody>
          <a:bodyPr wrap="square" lIns="0" rIns="0" tIns="0" bIns="0" anchor="t">
            <a:spAutoFit/>
          </a:bodyPr>
          <a:lstStyle/>
          <a:p>
            <a:pPr>
              <a:spcAft>
                <a:spcPts val="500"/>
              </a:spcAft>
            </a:pPr>
            <a:r>
              <a:rPr sz="1800" b="0">
                <a:solidFill>
                  <a:srgbClr val="626A73"/>
                </a:solidFill>
                <a:latin typeface="Noto Sans CJK KR"/>
                <a:ea typeface="Noto Sans CJK KR"/>
              </a:rPr>
              <a:t>Approve before commit and publication</a:t>
            </a:r>
          </a:p>
        </p:txBody>
      </p:sp>
      <p:cxnSp>
        <p:nvCxnSpPr>
          <p:cNvPr id="19" name="Connector 18"/>
          <p:cNvCxnSpPr/>
          <p:nvPr/>
        </p:nvCxnSpPr>
        <p:spPr>
          <a:xfrm>
            <a:off x="1920240" y="5038344"/>
            <a:ext cx="9464040" cy="0"/>
          </a:xfrm>
          <a:prstGeom prst="line">
            <a:avLst/>
          </a:prstGeom>
          <a:ln w="12700">
            <a:solidFill>
              <a:srgbClr val="D7DCE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MOTAR — Independent Target-Motion Replication</dc:title>
  <dc:subject>MOTAR simulation evidence; independent seven-seed target-motion replication</dc:subject>
  <dc:creator>Minseok Lee; Hyondong Oh</dc:creator>
  <cp:keywords>MOTAR; UAV; tracking; close approach; simulation; replication</cp:keywords>
  <dc:description>Review draft. Evidence closed. Generated from repository sources.</dc:description>
  <cp:lastModifiedBy>MOTAR companion builder</cp:lastModifiedBy>
  <cp:revision>1</cp:revision>
  <dcterms:created xsi:type="dcterms:W3CDTF">2026-09-26T00:00:00Z</dcterms:created>
  <dcterms:modified xsi:type="dcterms:W3CDTF">2026-09-26T00:00:00Z</dcterms:modified>
  <cp:category/>
</cp:coreProperties>
</file>